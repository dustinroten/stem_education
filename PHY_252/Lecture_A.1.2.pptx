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74" r:id="rId3"/>
    <p:sldId id="257"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p:restoredTop sz="94410"/>
  </p:normalViewPr>
  <p:slideViewPr>
    <p:cSldViewPr snapToGrid="0">
      <p:cViewPr varScale="1">
        <p:scale>
          <a:sx n="77" d="100"/>
          <a:sy n="77" d="100"/>
        </p:scale>
        <p:origin x="2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1E31E6-423A-9A42-95FD-C93B2FACFB68}" type="datetimeFigureOut">
              <a:rPr lang="en-US" smtClean="0"/>
              <a:t>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4F261C-8024-B94C-A632-A99BCFDB7E16}" type="slidenum">
              <a:rPr lang="en-US" smtClean="0"/>
              <a:t>‹#›</a:t>
            </a:fld>
            <a:endParaRPr lang="en-US"/>
          </a:p>
        </p:txBody>
      </p:sp>
    </p:spTree>
    <p:extLst>
      <p:ext uri="{BB962C8B-B14F-4D97-AF65-F5344CB8AC3E}">
        <p14:creationId xmlns:p14="http://schemas.microsoft.com/office/powerpoint/2010/main" val="177090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4F261C-8024-B94C-A632-A99BCFDB7E16}" type="slidenum">
              <a:rPr lang="en-US" smtClean="0"/>
              <a:t>16</a:t>
            </a:fld>
            <a:endParaRPr lang="en-US"/>
          </a:p>
        </p:txBody>
      </p:sp>
    </p:spTree>
    <p:extLst>
      <p:ext uri="{BB962C8B-B14F-4D97-AF65-F5344CB8AC3E}">
        <p14:creationId xmlns:p14="http://schemas.microsoft.com/office/powerpoint/2010/main" val="69302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32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20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535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31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96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735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278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43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035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405550922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Math And Science Formulas">
            <a:extLst>
              <a:ext uri="{FF2B5EF4-FFF2-40B4-BE49-F238E27FC236}">
                <a16:creationId xmlns:a16="http://schemas.microsoft.com/office/drawing/2014/main" id="{8D7F1681-2FC5-C5ED-2C0C-7C3382B3145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alpha val="30000"/>
                </a:schemeClr>
              </a:gs>
              <a:gs pos="33000">
                <a:schemeClr val="bg1">
                  <a:alpha val="20000"/>
                </a:schemeClr>
              </a:gs>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E383F8-AC96-354F-3D88-BDE18E4F5AD0}"/>
              </a:ext>
            </a:extLst>
          </p:cNvPr>
          <p:cNvSpPr>
            <a:spLocks noGrp="1"/>
          </p:cNvSpPr>
          <p:nvPr>
            <p:ph type="ctrTitle"/>
          </p:nvPr>
        </p:nvSpPr>
        <p:spPr>
          <a:xfrm>
            <a:off x="477980" y="2762109"/>
            <a:ext cx="11236035" cy="682617"/>
          </a:xfrm>
          <a:solidFill>
            <a:schemeClr val="tx1">
              <a:alpha val="25048"/>
            </a:schemeClr>
          </a:solidFill>
        </p:spPr>
        <p:txBody>
          <a:bodyPr anchor="b">
            <a:normAutofit/>
          </a:bodyPr>
          <a:lstStyle/>
          <a:p>
            <a:pPr algn="ctr"/>
            <a:r>
              <a:rPr lang="en-US" sz="3200" dirty="0">
                <a:ln>
                  <a:solidFill>
                    <a:schemeClr val="bg1"/>
                  </a:solidFill>
                </a:ln>
              </a:rPr>
              <a:t>(1.2) Coulomb’s Law</a:t>
            </a:r>
          </a:p>
        </p:txBody>
      </p:sp>
      <p:sp>
        <p:nvSpPr>
          <p:cNvPr id="3" name="Subtitle 2">
            <a:extLst>
              <a:ext uri="{FF2B5EF4-FFF2-40B4-BE49-F238E27FC236}">
                <a16:creationId xmlns:a16="http://schemas.microsoft.com/office/drawing/2014/main" id="{96FA1064-D8C7-539C-89D6-404A6782A4C4}"/>
              </a:ext>
            </a:extLst>
          </p:cNvPr>
          <p:cNvSpPr>
            <a:spLocks noGrp="1"/>
          </p:cNvSpPr>
          <p:nvPr>
            <p:ph type="subTitle" idx="1"/>
          </p:nvPr>
        </p:nvSpPr>
        <p:spPr>
          <a:xfrm>
            <a:off x="3297381" y="3754582"/>
            <a:ext cx="5597235" cy="1615687"/>
          </a:xfrm>
          <a:solidFill>
            <a:schemeClr val="tx1">
              <a:alpha val="25000"/>
            </a:schemeClr>
          </a:solidFill>
        </p:spPr>
        <p:txBody>
          <a:bodyPr>
            <a:normAutofit lnSpcReduction="10000"/>
          </a:bodyPr>
          <a:lstStyle/>
          <a:p>
            <a:pPr algn="ctr"/>
            <a:r>
              <a:rPr lang="en-US" sz="3200" dirty="0">
                <a:ln>
                  <a:solidFill>
                    <a:schemeClr val="bg1"/>
                  </a:solidFill>
                </a:ln>
              </a:rPr>
              <a:t>Dustin Roten, Ph.D.</a:t>
            </a:r>
          </a:p>
          <a:p>
            <a:pPr algn="ctr"/>
            <a:r>
              <a:rPr lang="en-US" sz="3200" dirty="0">
                <a:ln>
                  <a:solidFill>
                    <a:schemeClr val="bg1"/>
                  </a:solidFill>
                </a:ln>
              </a:rPr>
              <a:t>Wilkes Community College</a:t>
            </a:r>
          </a:p>
          <a:p>
            <a:pPr algn="ctr"/>
            <a:r>
              <a:rPr lang="en-US" sz="3200" dirty="0">
                <a:ln>
                  <a:solidFill>
                    <a:schemeClr val="bg1"/>
                  </a:solidFill>
                </a:ln>
              </a:rPr>
              <a:t>Spring 2025</a:t>
            </a:r>
          </a:p>
        </p:txBody>
      </p:sp>
    </p:spTree>
    <p:extLst>
      <p:ext uri="{BB962C8B-B14F-4D97-AF65-F5344CB8AC3E}">
        <p14:creationId xmlns:p14="http://schemas.microsoft.com/office/powerpoint/2010/main" val="64225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BDDF-D4EC-EE96-442A-B3B30F0BBB25}"/>
              </a:ext>
            </a:extLst>
          </p:cNvPr>
          <p:cNvSpPr>
            <a:spLocks noGrp="1"/>
          </p:cNvSpPr>
          <p:nvPr>
            <p:ph type="title"/>
          </p:nvPr>
        </p:nvSpPr>
        <p:spPr/>
        <p:txBody>
          <a:bodyPr>
            <a:normAutofit fontScale="90000"/>
          </a:bodyPr>
          <a:lstStyle/>
          <a:p>
            <a:r>
              <a:rPr lang="en-US" dirty="0"/>
              <a:t>1.2 Coulomb’s Law</a:t>
            </a:r>
            <a:br>
              <a:rPr lang="en-US" dirty="0"/>
            </a:br>
            <a:r>
              <a:rPr lang="en-US" dirty="0"/>
              <a:t>Topics</a:t>
            </a:r>
          </a:p>
        </p:txBody>
      </p:sp>
      <p:sp>
        <p:nvSpPr>
          <p:cNvPr id="3" name="Content Placeholder 2">
            <a:extLst>
              <a:ext uri="{FF2B5EF4-FFF2-40B4-BE49-F238E27FC236}">
                <a16:creationId xmlns:a16="http://schemas.microsoft.com/office/drawing/2014/main" id="{D961EC3D-FD6E-0102-7921-DE463AFAF04D}"/>
              </a:ext>
            </a:extLst>
          </p:cNvPr>
          <p:cNvSpPr>
            <a:spLocks noGrp="1"/>
          </p:cNvSpPr>
          <p:nvPr>
            <p:ph idx="1"/>
          </p:nvPr>
        </p:nvSpPr>
        <p:spPr/>
        <p:txBody>
          <a:bodyPr>
            <a:normAutofit/>
          </a:bodyPr>
          <a:lstStyle/>
          <a:p>
            <a:pPr marL="0" indent="0">
              <a:buNone/>
            </a:pPr>
            <a:r>
              <a:rPr lang="en-US" dirty="0"/>
              <a:t>1.2.1 A Brief History of Coulomb’s Law</a:t>
            </a:r>
          </a:p>
          <a:p>
            <a:pPr marL="0" indent="0">
              <a:buNone/>
            </a:pPr>
            <a:r>
              <a:rPr lang="en-US" dirty="0"/>
              <a:t>1.2.2 Coulomb’s Law</a:t>
            </a:r>
          </a:p>
          <a:p>
            <a:pPr marL="0" indent="0">
              <a:buNone/>
            </a:pPr>
            <a:r>
              <a:rPr lang="en-US" dirty="0"/>
              <a:t>1.2.3 Units of Charge</a:t>
            </a:r>
          </a:p>
          <a:p>
            <a:pPr marL="0" indent="0">
              <a:buNone/>
            </a:pPr>
            <a:r>
              <a:rPr lang="en-US" dirty="0"/>
              <a:t>1.2.4 Using Coulomb’s Law</a:t>
            </a:r>
          </a:p>
          <a:p>
            <a:pPr marL="0" indent="0">
              <a:buNone/>
            </a:pPr>
            <a:r>
              <a:rPr lang="en-US" dirty="0"/>
              <a:t>Example #1</a:t>
            </a:r>
          </a:p>
          <a:p>
            <a:pPr marL="0" indent="0">
              <a:buNone/>
            </a:pPr>
            <a:r>
              <a:rPr lang="en-US" dirty="0"/>
              <a:t>Example #2</a:t>
            </a:r>
          </a:p>
          <a:p>
            <a:pPr marL="0" indent="0">
              <a:buNone/>
            </a:pPr>
            <a:endParaRPr lang="en-US" dirty="0"/>
          </a:p>
        </p:txBody>
      </p:sp>
    </p:spTree>
    <p:extLst>
      <p:ext uri="{BB962C8B-B14F-4D97-AF65-F5344CB8AC3E}">
        <p14:creationId xmlns:p14="http://schemas.microsoft.com/office/powerpoint/2010/main" val="1732839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CD4FF-F80B-C5C7-56D8-3FA0BD2FA491}"/>
              </a:ext>
            </a:extLst>
          </p:cNvPr>
          <p:cNvSpPr>
            <a:spLocks noGrp="1"/>
          </p:cNvSpPr>
          <p:nvPr>
            <p:ph type="title"/>
          </p:nvPr>
        </p:nvSpPr>
        <p:spPr/>
        <p:txBody>
          <a:bodyPr/>
          <a:lstStyle/>
          <a:p>
            <a:r>
              <a:rPr lang="en-US" dirty="0"/>
              <a:t>1.2.1 A Brief History of Coulomb’s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29E358-4CB2-9E2A-F45C-68873ABF6879}"/>
                  </a:ext>
                </a:extLst>
              </p:cNvPr>
              <p:cNvSpPr>
                <a:spLocks noGrp="1"/>
              </p:cNvSpPr>
              <p:nvPr>
                <p:ph idx="1"/>
              </p:nvPr>
            </p:nvSpPr>
            <p:spPr>
              <a:xfrm>
                <a:off x="838200" y="1825624"/>
                <a:ext cx="8166100" cy="4860925"/>
              </a:xfrm>
            </p:spPr>
            <p:txBody>
              <a:bodyPr>
                <a:normAutofit fontScale="70000" lnSpcReduction="20000"/>
              </a:bodyPr>
              <a:lstStyle/>
              <a:p>
                <a:r>
                  <a:rPr lang="en-US" dirty="0"/>
                  <a:t>Electric force increases for objects with more charge, or when charges are moved closer together.</a:t>
                </a:r>
              </a:p>
              <a:p>
                <a:endParaRPr lang="en-US" dirty="0"/>
              </a:p>
              <a:p>
                <a:r>
                  <a:rPr lang="en-US" dirty="0"/>
                  <a:t>Conversely, the electric force decreases if the magnitude of the charges are decreased, or when charges are moved farther apart.</a:t>
                </a:r>
              </a:p>
              <a:p>
                <a:endParaRPr lang="en-US" dirty="0"/>
              </a:p>
              <a:p>
                <a:r>
                  <a:rPr lang="en-US" dirty="0"/>
                  <a:t>The force law that describes this is known as Coulomb’s law.</a:t>
                </a:r>
              </a:p>
              <a:p>
                <a:endParaRPr lang="en-US" dirty="0"/>
              </a:p>
              <a:p>
                <a:r>
                  <a:rPr lang="en-US" dirty="0"/>
                  <a:t>Coulomb used a torsion balance to measure this electrical force. This was the same method used to determine the gravitational constant, </a:t>
                </a:r>
                <a14:m>
                  <m:oMath xmlns:m="http://schemas.openxmlformats.org/officeDocument/2006/math">
                    <m:r>
                      <a:rPr lang="en-US" b="0" i="1" smtClean="0">
                        <a:latin typeface="Cambria Math" panose="02040503050406030204" pitchFamily="18" charset="0"/>
                      </a:rPr>
                      <m:t>𝐺</m:t>
                    </m:r>
                  </m:oMath>
                </a14:m>
                <a:r>
                  <a:rPr lang="en-US" dirty="0"/>
                  <a:t>.</a:t>
                </a:r>
              </a:p>
              <a:p>
                <a:endParaRPr lang="en-US" dirty="0"/>
              </a:p>
              <a:p>
                <a:r>
                  <a:rPr lang="en-US" dirty="0"/>
                  <a:t>He determined that the electric force obeys an </a:t>
                </a:r>
                <a:r>
                  <a:rPr lang="en-US" i="1" dirty="0"/>
                  <a:t>inverse-square law</a:t>
                </a:r>
                <a:r>
                  <a:rPr lang="en-US" dirty="0"/>
                  <a:t>, just like Newton’s law of gravity.</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5D29E358-4CB2-9E2A-F45C-68873ABF6879}"/>
                  </a:ext>
                </a:extLst>
              </p:cNvPr>
              <p:cNvSpPr>
                <a:spLocks noGrp="1" noRot="1" noChangeAspect="1" noMove="1" noResize="1" noEditPoints="1" noAdjustHandles="1" noChangeArrowheads="1" noChangeShapeType="1" noTextEdit="1"/>
              </p:cNvSpPr>
              <p:nvPr>
                <p:ph idx="1"/>
              </p:nvPr>
            </p:nvSpPr>
            <p:spPr>
              <a:xfrm>
                <a:off x="838200" y="1825624"/>
                <a:ext cx="8166100" cy="4860925"/>
              </a:xfrm>
              <a:blipFill>
                <a:blip r:embed="rId2"/>
                <a:stretch>
                  <a:fillRect l="-933" t="-234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49AD7C6-5048-3E01-91FB-F271FC0A2C63}"/>
              </a:ext>
            </a:extLst>
          </p:cNvPr>
          <p:cNvPicPr>
            <a:picLocks noChangeAspect="1"/>
          </p:cNvPicPr>
          <p:nvPr/>
        </p:nvPicPr>
        <p:blipFill>
          <a:blip r:embed="rId3"/>
          <a:stretch>
            <a:fillRect/>
          </a:stretch>
        </p:blipFill>
        <p:spPr>
          <a:xfrm>
            <a:off x="9004300" y="1690688"/>
            <a:ext cx="3187700" cy="4457700"/>
          </a:xfrm>
          <a:prstGeom prst="rect">
            <a:avLst/>
          </a:prstGeom>
        </p:spPr>
      </p:pic>
    </p:spTree>
    <p:extLst>
      <p:ext uri="{BB962C8B-B14F-4D97-AF65-F5344CB8AC3E}">
        <p14:creationId xmlns:p14="http://schemas.microsoft.com/office/powerpoint/2010/main" val="1796598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FFCE1-3658-C2AE-2623-270D859FDC37}"/>
              </a:ext>
            </a:extLst>
          </p:cNvPr>
          <p:cNvSpPr>
            <a:spLocks noGrp="1"/>
          </p:cNvSpPr>
          <p:nvPr>
            <p:ph type="title"/>
          </p:nvPr>
        </p:nvSpPr>
        <p:spPr/>
        <p:txBody>
          <a:bodyPr/>
          <a:lstStyle/>
          <a:p>
            <a:r>
              <a:rPr lang="en-US" dirty="0"/>
              <a:t>1.2.2 Coulomb’s Law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860848-8320-B50C-2E68-D709F1CC0CF3}"/>
                  </a:ext>
                </a:extLst>
              </p:cNvPr>
              <p:cNvSpPr>
                <a:spLocks noGrp="1"/>
              </p:cNvSpPr>
              <p:nvPr>
                <p:ph idx="1"/>
              </p:nvPr>
            </p:nvSpPr>
            <p:spPr>
              <a:xfrm>
                <a:off x="838201" y="1825624"/>
                <a:ext cx="7924800" cy="4848225"/>
              </a:xfrm>
            </p:spPr>
            <p:txBody>
              <a:bodyPr>
                <a:normAutofit fontScale="77500" lnSpcReduction="20000"/>
              </a:bodyPr>
              <a:lstStyle/>
              <a:p>
                <a:pPr marL="0" indent="0">
                  <a:buNone/>
                </a:pPr>
                <a:r>
                  <a:rPr lang="en-US" dirty="0"/>
                  <a:t>If two charged particles of charge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a14:m>
                <a:r>
                  <a:rPr lang="en-US" dirty="0"/>
                  <a:t> are a distance </a:t>
                </a:r>
                <a14:m>
                  <m:oMath xmlns:m="http://schemas.openxmlformats.org/officeDocument/2006/math">
                    <m:r>
                      <a:rPr lang="en-US" b="0" i="1" smtClean="0">
                        <a:latin typeface="Cambria Math" panose="02040503050406030204" pitchFamily="18" charset="0"/>
                      </a:rPr>
                      <m:t>𝑟</m:t>
                    </m:r>
                  </m:oMath>
                </a14:m>
                <a:r>
                  <a:rPr lang="en-US" dirty="0"/>
                  <a:t> apart, the particles exert forces on each other of magnitude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1 </m:t>
                          </m:r>
                          <m:r>
                            <m:rPr>
                              <m:sty m:val="p"/>
                            </m:rPr>
                            <a:rPr lang="en-US" b="0" i="0" smtClean="0">
                              <a:latin typeface="Cambria Math" panose="02040503050406030204" pitchFamily="18" charset="0"/>
                            </a:rPr>
                            <m:t>on</m:t>
                          </m:r>
                          <m:r>
                            <a:rPr lang="en-US" b="0" i="1" smtClean="0">
                              <a:latin typeface="Cambria Math" panose="02040503050406030204" pitchFamily="18" charset="0"/>
                            </a:rPr>
                            <m:t> 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2 </m:t>
                          </m:r>
                          <m:r>
                            <m:rPr>
                              <m:sty m:val="p"/>
                            </m:rPr>
                            <a:rPr lang="en-US" b="0" i="0" smtClean="0">
                              <a:latin typeface="Cambria Math" panose="02040503050406030204" pitchFamily="18" charset="0"/>
                            </a:rPr>
                            <m:t>on</m:t>
                          </m:r>
                          <m:r>
                            <a:rPr lang="en-US" b="0" i="1" smtClean="0">
                              <a:latin typeface="Cambria Math" panose="02040503050406030204" pitchFamily="18" charset="0"/>
                            </a:rPr>
                            <m:t> 1</m:t>
                          </m:r>
                        </m:sub>
                      </m:sSub>
                      <m:r>
                        <a:rPr lang="en-US" b="0" i="1" smtClean="0">
                          <a:latin typeface="Cambria Math" panose="02040503050406030204" pitchFamily="18" charset="0"/>
                        </a:rPr>
                        <m:t>=</m:t>
                      </m:r>
                      <m:r>
                        <a:rPr lang="en-US" b="0" i="1" smtClean="0">
                          <a:latin typeface="Cambria Math" panose="02040503050406030204" pitchFamily="18" charset="0"/>
                        </a:rPr>
                        <m:t>𝐾</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den>
                      </m:f>
                    </m:oMath>
                  </m:oMathPara>
                </a14:m>
                <a:endParaRPr lang="en-US" b="0" dirty="0"/>
              </a:p>
              <a:p>
                <a:pPr marL="0" indent="0">
                  <a:buNone/>
                </a:pPr>
                <a:endParaRPr lang="en-US" dirty="0"/>
              </a:p>
              <a:p>
                <a:pPr marL="0" indent="0">
                  <a:buNone/>
                </a:pPr>
                <a14:m>
                  <m:oMath xmlns:m="http://schemas.openxmlformats.org/officeDocument/2006/math">
                    <m:r>
                      <a:rPr lang="en-US" b="0" i="1" smtClean="0">
                        <a:latin typeface="Cambria Math" panose="02040503050406030204" pitchFamily="18" charset="0"/>
                      </a:rPr>
                      <m:t>𝐾</m:t>
                    </m:r>
                  </m:oMath>
                </a14:m>
                <a:r>
                  <a:rPr lang="en-US" dirty="0"/>
                  <a:t> is called the </a:t>
                </a:r>
                <a:r>
                  <a:rPr lang="en-US" i="1" dirty="0"/>
                  <a:t>electrostatic constant</a:t>
                </a:r>
                <a:r>
                  <a:rPr lang="en-US" dirty="0"/>
                  <a:t>. These forces are an action/reaction pair, equal in magnitude and opposite in direction.</a:t>
                </a:r>
              </a:p>
              <a:p>
                <a:pPr marL="0" indent="0">
                  <a:buNone/>
                </a:pPr>
                <a:endParaRPr lang="en-US" dirty="0"/>
              </a:p>
              <a:p>
                <a:pPr marL="0" indent="0">
                  <a:buNone/>
                </a:pPr>
                <a:r>
                  <a:rPr lang="en-US" dirty="0"/>
                  <a:t>The forces are directed along the line joining the two particles. The forces are </a:t>
                </a:r>
                <a:r>
                  <a:rPr lang="en-US" i="1" dirty="0"/>
                  <a:t>repulsive</a:t>
                </a:r>
                <a:r>
                  <a:rPr lang="en-US" dirty="0"/>
                  <a:t> for like charges and </a:t>
                </a:r>
                <a:r>
                  <a:rPr lang="en-US" i="1" dirty="0"/>
                  <a:t>attractive</a:t>
                </a:r>
                <a:r>
                  <a:rPr lang="en-US" dirty="0"/>
                  <a:t> for opposite charges.</a:t>
                </a:r>
              </a:p>
            </p:txBody>
          </p:sp>
        </mc:Choice>
        <mc:Fallback>
          <p:sp>
            <p:nvSpPr>
              <p:cNvPr id="3" name="Content Placeholder 2">
                <a:extLst>
                  <a:ext uri="{FF2B5EF4-FFF2-40B4-BE49-F238E27FC236}">
                    <a16:creationId xmlns:a16="http://schemas.microsoft.com/office/drawing/2014/main" id="{55860848-8320-B50C-2E68-D709F1CC0CF3}"/>
                  </a:ext>
                </a:extLst>
              </p:cNvPr>
              <p:cNvSpPr>
                <a:spLocks noGrp="1" noRot="1" noChangeAspect="1" noMove="1" noResize="1" noEditPoints="1" noAdjustHandles="1" noChangeArrowheads="1" noChangeShapeType="1" noTextEdit="1"/>
              </p:cNvSpPr>
              <p:nvPr>
                <p:ph idx="1"/>
              </p:nvPr>
            </p:nvSpPr>
            <p:spPr>
              <a:xfrm>
                <a:off x="838201" y="1825624"/>
                <a:ext cx="7924800" cy="4848225"/>
              </a:xfrm>
              <a:blipFill>
                <a:blip r:embed="rId2"/>
                <a:stretch>
                  <a:fillRect l="-1280" t="-287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F3E79BA-5A21-DE90-467D-EDEB821FC7F4}"/>
              </a:ext>
            </a:extLst>
          </p:cNvPr>
          <p:cNvPicPr>
            <a:picLocks noChangeAspect="1"/>
          </p:cNvPicPr>
          <p:nvPr/>
        </p:nvPicPr>
        <p:blipFill>
          <a:blip r:embed="rId3"/>
          <a:stretch>
            <a:fillRect/>
          </a:stretch>
        </p:blipFill>
        <p:spPr>
          <a:xfrm>
            <a:off x="8763000" y="184150"/>
            <a:ext cx="3429000" cy="6489700"/>
          </a:xfrm>
          <a:prstGeom prst="rect">
            <a:avLst/>
          </a:prstGeom>
        </p:spPr>
      </p:pic>
    </p:spTree>
    <p:extLst>
      <p:ext uri="{BB962C8B-B14F-4D97-AF65-F5344CB8AC3E}">
        <p14:creationId xmlns:p14="http://schemas.microsoft.com/office/powerpoint/2010/main" val="298484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79BC-4D26-0108-7F37-86C6E1CE2BAF}"/>
              </a:ext>
            </a:extLst>
          </p:cNvPr>
          <p:cNvSpPr>
            <a:spLocks noGrp="1"/>
          </p:cNvSpPr>
          <p:nvPr>
            <p:ph type="title"/>
          </p:nvPr>
        </p:nvSpPr>
        <p:spPr/>
        <p:txBody>
          <a:bodyPr/>
          <a:lstStyle/>
          <a:p>
            <a:r>
              <a:rPr lang="en-US" dirty="0"/>
              <a:t>1.2.2 Coulomb’s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65895B-2638-1147-FE19-8B385B413FDA}"/>
                  </a:ext>
                </a:extLst>
              </p:cNvPr>
              <p:cNvSpPr>
                <a:spLocks noGrp="1"/>
              </p:cNvSpPr>
              <p:nvPr>
                <p:ph idx="1"/>
              </p:nvPr>
            </p:nvSpPr>
            <p:spPr/>
            <p:txBody>
              <a:bodyPr/>
              <a:lstStyle/>
              <a:p>
                <a:r>
                  <a:rPr lang="en-US" dirty="0"/>
                  <a:t>Coulomb’s law describes the force between charged </a:t>
                </a:r>
                <a:r>
                  <a:rPr lang="en-US" i="1" dirty="0"/>
                  <a:t>particles</a:t>
                </a:r>
                <a:r>
                  <a:rPr lang="en-US" dirty="0"/>
                  <a:t>, which are also called </a:t>
                </a:r>
                <a:r>
                  <a:rPr lang="en-US" i="1" dirty="0"/>
                  <a:t>point charges</a:t>
                </a:r>
                <a:r>
                  <a:rPr lang="en-US" dirty="0"/>
                  <a:t>. A charged particle, has a mass and charge but no size. (It’s a simplification.)</a:t>
                </a:r>
              </a:p>
              <a:p>
                <a:endParaRPr lang="en-US" dirty="0"/>
              </a:p>
              <a:p>
                <a14:m>
                  <m:oMath xmlns:m="http://schemas.openxmlformats.org/officeDocument/2006/math">
                    <m:r>
                      <a:rPr lang="en-US" b="0" i="1" smtClean="0">
                        <a:latin typeface="Cambria Math" panose="02040503050406030204" pitchFamily="18" charset="0"/>
                      </a:rPr>
                      <m:t>𝑞</m:t>
                    </m:r>
                  </m:oMath>
                </a14:m>
                <a:r>
                  <a:rPr lang="en-US" dirty="0"/>
                  <a:t> can be either positive or negative. Given the absolute value signs in Coulomb’s law, the first part only gives the </a:t>
                </a:r>
                <a:r>
                  <a:rPr lang="en-US" i="1" dirty="0"/>
                  <a:t>magnitude</a:t>
                </a:r>
                <a:r>
                  <a:rPr lang="en-US" dirty="0"/>
                  <a:t> of the force (always positive). The direction must be determined by the second part of the law.</a:t>
                </a:r>
              </a:p>
            </p:txBody>
          </p:sp>
        </mc:Choice>
        <mc:Fallback xmlns="">
          <p:sp>
            <p:nvSpPr>
              <p:cNvPr id="3" name="Content Placeholder 2">
                <a:extLst>
                  <a:ext uri="{FF2B5EF4-FFF2-40B4-BE49-F238E27FC236}">
                    <a16:creationId xmlns:a16="http://schemas.microsoft.com/office/drawing/2014/main" id="{8265895B-2638-1147-FE19-8B385B413FDA}"/>
                  </a:ext>
                </a:extLst>
              </p:cNvPr>
              <p:cNvSpPr>
                <a:spLocks noGrp="1" noRot="1" noChangeAspect="1" noMove="1" noResize="1" noEditPoints="1" noAdjustHandles="1" noChangeArrowheads="1" noChangeShapeType="1" noTextEdit="1"/>
              </p:cNvSpPr>
              <p:nvPr>
                <p:ph idx="1"/>
              </p:nvPr>
            </p:nvSpPr>
            <p:spPr>
              <a:blipFill>
                <a:blip r:embed="rId2"/>
                <a:stretch>
                  <a:fillRect l="-1327" t="-2907" r="-1327"/>
                </a:stretch>
              </a:blipFill>
            </p:spPr>
            <p:txBody>
              <a:bodyPr/>
              <a:lstStyle/>
              <a:p>
                <a:r>
                  <a:rPr lang="en-US">
                    <a:noFill/>
                  </a:rPr>
                  <a:t> </a:t>
                </a:r>
              </a:p>
            </p:txBody>
          </p:sp>
        </mc:Fallback>
      </mc:AlternateContent>
    </p:spTree>
    <p:extLst>
      <p:ext uri="{BB962C8B-B14F-4D97-AF65-F5344CB8AC3E}">
        <p14:creationId xmlns:p14="http://schemas.microsoft.com/office/powerpoint/2010/main" val="1496669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19CE-0DC3-8F26-56A5-E30204A1FE44}"/>
              </a:ext>
            </a:extLst>
          </p:cNvPr>
          <p:cNvSpPr>
            <a:spLocks noGrp="1"/>
          </p:cNvSpPr>
          <p:nvPr>
            <p:ph type="title"/>
          </p:nvPr>
        </p:nvSpPr>
        <p:spPr/>
        <p:txBody>
          <a:bodyPr/>
          <a:lstStyle/>
          <a:p>
            <a:r>
              <a:rPr lang="en-US" dirty="0"/>
              <a:t>1.2.3 Units of Charge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7A8587-76C3-EEF8-7A3E-26F765DF874B}"/>
                  </a:ext>
                </a:extLst>
              </p:cNvPr>
              <p:cNvSpPr>
                <a:spLocks noGrp="1"/>
              </p:cNvSpPr>
              <p:nvPr>
                <p:ph idx="1"/>
              </p:nvPr>
            </p:nvSpPr>
            <p:spPr/>
            <p:txBody>
              <a:bodyPr>
                <a:normAutofit fontScale="85000" lnSpcReduction="20000"/>
              </a:bodyPr>
              <a:lstStyle/>
              <a:p>
                <a:r>
                  <a:rPr lang="en-US" dirty="0"/>
                  <a:t>The SI unit of charge, the </a:t>
                </a:r>
                <a:r>
                  <a:rPr lang="en-US" i="1" dirty="0"/>
                  <a:t>coulomb </a:t>
                </a:r>
                <a:r>
                  <a:rPr lang="en-US" dirty="0"/>
                  <a:t>(C), is derived from the SI unit of </a:t>
                </a:r>
                <a:r>
                  <a:rPr lang="en-US" i="1" dirty="0"/>
                  <a:t>current </a:t>
                </a:r>
                <a:r>
                  <a:rPr lang="en-US" dirty="0"/>
                  <a:t>(discussed later).</a:t>
                </a:r>
              </a:p>
              <a:p>
                <a:endParaRPr lang="en-US" dirty="0"/>
              </a:p>
              <a:p>
                <a:r>
                  <a:rPr lang="en-US" dirty="0"/>
                  <a:t>The fundamental unit of charge, </a:t>
                </a:r>
                <a14:m>
                  <m:oMath xmlns:m="http://schemas.openxmlformats.org/officeDocument/2006/math">
                    <m:r>
                      <a:rPr lang="en-US" b="0" i="1" smtClean="0">
                        <a:latin typeface="Cambria Math" panose="02040503050406030204" pitchFamily="18" charset="0"/>
                      </a:rPr>
                      <m:t>𝑒</m:t>
                    </m:r>
                  </m:oMath>
                </a14:m>
                <a:r>
                  <a:rPr lang="en-US" dirty="0"/>
                  <a:t>, has been measured to have the value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=1.6×</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−19</m:t>
                        </m:r>
                      </m:sup>
                    </m:sSup>
                    <m:r>
                      <m:rPr>
                        <m:sty m:val="p"/>
                      </m:rPr>
                      <a:rPr lang="en-US" b="0" i="0" smtClean="0">
                        <a:latin typeface="Cambria Math" panose="02040503050406030204" pitchFamily="18" charset="0"/>
                      </a:rPr>
                      <m:t>C</m:t>
                    </m:r>
                  </m:oMath>
                </a14:m>
                <a:r>
                  <a:rPr lang="en-US" dirty="0"/>
                  <a:t>. This is a very small amount of charge.</a:t>
                </a:r>
              </a:p>
              <a:p>
                <a:endParaRPr lang="en-US" dirty="0"/>
              </a:p>
              <a:p>
                <a:r>
                  <a:rPr lang="en-US" dirty="0"/>
                  <a:t>Once this fundamental unit of charge is established, torsion balance experiments can be used to measure the electrostatic constant </a:t>
                </a:r>
                <a14:m>
                  <m:oMath xmlns:m="http://schemas.openxmlformats.org/officeDocument/2006/math">
                    <m:r>
                      <a:rPr lang="en-US" b="0" i="1" smtClean="0">
                        <a:latin typeface="Cambria Math" panose="02040503050406030204" pitchFamily="18" charset="0"/>
                      </a:rPr>
                      <m:t>𝐾</m:t>
                    </m:r>
                  </m:oMath>
                </a14:m>
                <a:r>
                  <a:rPr lang="en-US" dirty="0"/>
                  <a:t>.</a:t>
                </a:r>
              </a:p>
              <a:p>
                <a:endParaRPr lang="en-US" b="0" i="1" dirty="0">
                  <a:latin typeface="Cambria Math" panose="02040503050406030204" pitchFamily="18" charset="0"/>
                </a:endParaRPr>
              </a:p>
              <a:p>
                <a:r>
                  <a:rPr lang="en-US" b="0" dirty="0"/>
                  <a:t>The value of </a:t>
                </a:r>
                <a14:m>
                  <m:oMath xmlns:m="http://schemas.openxmlformats.org/officeDocument/2006/math">
                    <m:r>
                      <a:rPr lang="en-US" b="0" i="1" smtClean="0">
                        <a:latin typeface="Cambria Math" panose="02040503050406030204" pitchFamily="18" charset="0"/>
                      </a:rPr>
                      <m:t>𝐾</m:t>
                    </m:r>
                  </m:oMath>
                </a14:m>
                <a:r>
                  <a:rPr lang="en-US" b="0" dirty="0"/>
                  <a:t> is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=8.99×</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f>
                      <m:fPr>
                        <m:type m:val="lin"/>
                        <m:ctrlPr>
                          <a:rPr lang="en-US" b="0" i="1" smtClean="0">
                            <a:latin typeface="Cambria Math" panose="02040503050406030204" pitchFamily="18" charset="0"/>
                          </a:rPr>
                        </m:ctrlPr>
                      </m:fPr>
                      <m:num>
                        <m:r>
                          <m:rPr>
                            <m:sty m:val="p"/>
                          </m:rPr>
                          <a:rPr lang="en-US" b="0" i="0" smtClean="0">
                            <a:latin typeface="Cambria Math" panose="02040503050406030204" pitchFamily="18" charset="0"/>
                          </a:rPr>
                          <m:t>N</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m:t>
                            </m:r>
                          </m:e>
                          <m:sup>
                            <m:r>
                              <a:rPr lang="en-US" b="0" i="0"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m:t>
                            </m:r>
                          </m:e>
                          <m:sup>
                            <m:r>
                              <a:rPr lang="en-US" b="0" i="0" smtClean="0">
                                <a:latin typeface="Cambria Math" panose="02040503050406030204" pitchFamily="18" charset="0"/>
                              </a:rPr>
                              <m:t>2</m:t>
                            </m:r>
                          </m:sup>
                        </m:sSup>
                      </m:den>
                    </m:f>
                  </m:oMath>
                </a14:m>
                <a:r>
                  <a:rPr lang="en-US" dirty="0"/>
                  <a:t>, but it can be rounded up to </a:t>
                </a:r>
                <a14:m>
                  <m:oMath xmlns:m="http://schemas.openxmlformats.org/officeDocument/2006/math">
                    <m:r>
                      <a:rPr lang="en-US" i="1">
                        <a:latin typeface="Cambria Math" panose="02040503050406030204" pitchFamily="18" charset="0"/>
                      </a:rPr>
                      <m:t>9</m:t>
                    </m:r>
                    <m:r>
                      <a:rPr lang="en-US" b="0" i="1" smtClean="0">
                        <a:latin typeface="Cambria Math" panose="02040503050406030204" pitchFamily="18" charset="0"/>
                      </a:rPr>
                      <m:t>.00</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f>
                      <m:fPr>
                        <m:type m:val="lin"/>
                        <m:ctrlPr>
                          <a:rPr lang="en-US" i="1">
                            <a:latin typeface="Cambria Math" panose="02040503050406030204" pitchFamily="18" charset="0"/>
                          </a:rPr>
                        </m:ctrlPr>
                      </m:fPr>
                      <m:num>
                        <m:r>
                          <m:rPr>
                            <m:sty m:val="p"/>
                          </m:rPr>
                          <a:rPr lang="en-US">
                            <a:latin typeface="Cambria Math" panose="02040503050406030204" pitchFamily="18" charset="0"/>
                          </a:rPr>
                          <m:t>N</m:t>
                        </m:r>
                        <m:sSup>
                          <m:sSupPr>
                            <m:ctrlPr>
                              <a:rPr lang="en-US" i="1">
                                <a:latin typeface="Cambria Math" panose="02040503050406030204" pitchFamily="18" charset="0"/>
                              </a:rPr>
                            </m:ctrlPr>
                          </m:sSupPr>
                          <m:e>
                            <m:r>
                              <m:rPr>
                                <m:sty m:val="p"/>
                              </m:rPr>
                              <a:rPr lang="en-US">
                                <a:latin typeface="Cambria Math" panose="02040503050406030204" pitchFamily="18" charset="0"/>
                              </a:rPr>
                              <m:t>m</m:t>
                            </m:r>
                          </m:e>
                          <m:sup>
                            <m:r>
                              <a:rPr lang="en-US">
                                <a:latin typeface="Cambria Math" panose="02040503050406030204" pitchFamily="18" charset="0"/>
                              </a:rPr>
                              <m:t>2</m:t>
                            </m:r>
                          </m:sup>
                        </m:sSup>
                      </m:num>
                      <m:den>
                        <m:sSup>
                          <m:sSupPr>
                            <m:ctrlPr>
                              <a:rPr lang="en-US" i="1">
                                <a:latin typeface="Cambria Math" panose="02040503050406030204" pitchFamily="18" charset="0"/>
                              </a:rPr>
                            </m:ctrlPr>
                          </m:sSupPr>
                          <m:e>
                            <m:r>
                              <m:rPr>
                                <m:sty m:val="p"/>
                              </m:rPr>
                              <a:rPr lang="en-US">
                                <a:latin typeface="Cambria Math" panose="02040503050406030204" pitchFamily="18" charset="0"/>
                              </a:rPr>
                              <m:t>C</m:t>
                            </m:r>
                          </m:e>
                          <m:sup>
                            <m:r>
                              <a:rPr lang="en-US">
                                <a:latin typeface="Cambria Math" panose="02040503050406030204" pitchFamily="18" charset="0"/>
                              </a:rPr>
                              <m:t>2</m:t>
                            </m:r>
                          </m:sup>
                        </m:sSup>
                      </m:den>
                    </m:f>
                  </m:oMath>
                </a14:m>
                <a:r>
                  <a:rPr lang="en-US" dirty="0"/>
                  <a:t> for “everyday” calculations.</a:t>
                </a:r>
              </a:p>
            </p:txBody>
          </p:sp>
        </mc:Choice>
        <mc:Fallback xmlns="">
          <p:sp>
            <p:nvSpPr>
              <p:cNvPr id="3" name="Content Placeholder 2">
                <a:extLst>
                  <a:ext uri="{FF2B5EF4-FFF2-40B4-BE49-F238E27FC236}">
                    <a16:creationId xmlns:a16="http://schemas.microsoft.com/office/drawing/2014/main" id="{F47A8587-76C3-EEF8-7A3E-26F765DF874B}"/>
                  </a:ext>
                </a:extLst>
              </p:cNvPr>
              <p:cNvSpPr>
                <a:spLocks noGrp="1" noRot="1" noChangeAspect="1" noMove="1" noResize="1" noEditPoints="1" noAdjustHandles="1" noChangeArrowheads="1" noChangeShapeType="1" noTextEdit="1"/>
              </p:cNvSpPr>
              <p:nvPr>
                <p:ph idx="1"/>
              </p:nvPr>
            </p:nvSpPr>
            <p:spPr>
              <a:blipFill>
                <a:blip r:embed="rId2"/>
                <a:stretch>
                  <a:fillRect l="-965" t="-3488" r="-724" b="-16860"/>
                </a:stretch>
              </a:blipFill>
            </p:spPr>
            <p:txBody>
              <a:bodyPr/>
              <a:lstStyle/>
              <a:p>
                <a:r>
                  <a:rPr lang="en-US">
                    <a:noFill/>
                  </a:rPr>
                  <a:t> </a:t>
                </a:r>
              </a:p>
            </p:txBody>
          </p:sp>
        </mc:Fallback>
      </mc:AlternateContent>
    </p:spTree>
    <p:extLst>
      <p:ext uri="{BB962C8B-B14F-4D97-AF65-F5344CB8AC3E}">
        <p14:creationId xmlns:p14="http://schemas.microsoft.com/office/powerpoint/2010/main" val="187634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D0D6-4BCB-8687-1580-746A9DDEEDA3}"/>
              </a:ext>
            </a:extLst>
          </p:cNvPr>
          <p:cNvSpPr>
            <a:spLocks noGrp="1"/>
          </p:cNvSpPr>
          <p:nvPr>
            <p:ph type="title"/>
          </p:nvPr>
        </p:nvSpPr>
        <p:spPr/>
        <p:txBody>
          <a:bodyPr/>
          <a:lstStyle/>
          <a:p>
            <a:r>
              <a:rPr lang="en-US" dirty="0"/>
              <a:t>1.2.3 Units of Charge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13EF4A-7DC4-875A-A228-C171406D3AA0}"/>
                  </a:ext>
                </a:extLst>
              </p:cNvPr>
              <p:cNvSpPr>
                <a:spLocks noGrp="1"/>
              </p:cNvSpPr>
              <p:nvPr>
                <p:ph idx="1"/>
              </p:nvPr>
            </p:nvSpPr>
            <p:spPr/>
            <p:txBody>
              <a:bodyPr>
                <a:normAutofit lnSpcReduction="10000"/>
              </a:bodyPr>
              <a:lstStyle/>
              <a:p>
                <a:r>
                  <a:rPr lang="en-US" dirty="0"/>
                  <a:t>There is also the </a:t>
                </a:r>
                <a:r>
                  <a:rPr lang="en-US" i="1" dirty="0"/>
                  <a:t>permittivity constant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0</m:t>
                        </m:r>
                      </m:sub>
                    </m:sSub>
                  </m:oMath>
                </a14:m>
                <a:r>
                  <a:rPr lang="en-US" dirty="0"/>
                  <a:t>, which is defined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r>
                          <a:rPr lang="en-US" b="0" i="1" smtClean="0">
                            <a:latin typeface="Cambria Math" panose="02040503050406030204" pitchFamily="18" charset="0"/>
                          </a:rPr>
                          <m:t>𝜋</m:t>
                        </m:r>
                        <m:r>
                          <a:rPr lang="en-US" b="0" i="1" smtClean="0">
                            <a:latin typeface="Cambria Math" panose="02040503050406030204" pitchFamily="18" charset="0"/>
                          </a:rPr>
                          <m:t>𝐾</m:t>
                        </m:r>
                      </m:den>
                    </m:f>
                    <m:r>
                      <a:rPr lang="en-US" b="0" i="1" smtClean="0">
                        <a:latin typeface="Cambria Math" panose="02040503050406030204" pitchFamily="18" charset="0"/>
                      </a:rPr>
                      <m:t>=8.85×</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−12</m:t>
                        </m:r>
                      </m:sup>
                    </m:sSup>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m:t>
                            </m:r>
                          </m:e>
                          <m:sup>
                            <m:r>
                              <a:rPr lang="en-US" b="0" i="0" smtClean="0">
                                <a:latin typeface="Cambria Math" panose="02040503050406030204" pitchFamily="18" charset="0"/>
                              </a:rPr>
                              <m:t>2</m:t>
                            </m:r>
                          </m:sup>
                        </m:sSup>
                      </m:num>
                      <m:den>
                        <m:r>
                          <m:rPr>
                            <m:sty m:val="p"/>
                          </m:rPr>
                          <a:rPr lang="en-US" b="0" i="0" smtClean="0">
                            <a:latin typeface="Cambria Math" panose="02040503050406030204" pitchFamily="18" charset="0"/>
                          </a:rPr>
                          <m:t>N</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m:t>
                            </m:r>
                          </m:e>
                          <m:sup>
                            <m:r>
                              <a:rPr lang="en-US" b="0" i="0" smtClean="0">
                                <a:latin typeface="Cambria Math" panose="02040503050406030204" pitchFamily="18" charset="0"/>
                              </a:rPr>
                              <m:t>2</m:t>
                            </m:r>
                          </m:sup>
                        </m:sSup>
                      </m:den>
                    </m:f>
                  </m:oMath>
                </a14:m>
                <a:r>
                  <a:rPr lang="en-US" dirty="0"/>
                  <a:t>.</a:t>
                </a:r>
              </a:p>
              <a:p>
                <a:endParaRPr lang="en-US" dirty="0"/>
              </a:p>
              <a:p>
                <a:r>
                  <a:rPr lang="en-US" dirty="0"/>
                  <a:t>Notice that we can rearrange this statement such that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r>
                          <a:rPr lang="en-US" b="0" i="1" smtClean="0">
                            <a:latin typeface="Cambria Math" panose="02040503050406030204" pitchFamily="18" charset="0"/>
                          </a:rPr>
                          <m:t>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0</m:t>
                            </m:r>
                          </m:sub>
                        </m:sSub>
                      </m:den>
                    </m:f>
                  </m:oMath>
                </a14:m>
                <a:endParaRPr lang="en-US" dirty="0"/>
              </a:p>
              <a:p>
                <a:endParaRPr lang="en-US" dirty="0"/>
              </a:p>
              <a:p>
                <a:r>
                  <a:rPr lang="en-US" dirty="0"/>
                  <a:t>Thus, Coulomb’s Law can be rewritten as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r>
                          <a:rPr lang="en-US" b="0" i="1" smtClean="0">
                            <a:latin typeface="Cambria Math" panose="02040503050406030204" pitchFamily="18" charset="0"/>
                          </a:rPr>
                          <m:t>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0</m:t>
                            </m:r>
                          </m:sub>
                        </m:sSub>
                      </m:den>
                    </m:f>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den>
                    </m:f>
                  </m:oMath>
                </a14:m>
                <a:r>
                  <a:rPr lang="en-US" dirty="0"/>
                  <a:t>. This will be helpful in the future!</a:t>
                </a:r>
              </a:p>
            </p:txBody>
          </p:sp>
        </mc:Choice>
        <mc:Fallback xmlns="">
          <p:sp>
            <p:nvSpPr>
              <p:cNvPr id="3" name="Content Placeholder 2">
                <a:extLst>
                  <a:ext uri="{FF2B5EF4-FFF2-40B4-BE49-F238E27FC236}">
                    <a16:creationId xmlns:a16="http://schemas.microsoft.com/office/drawing/2014/main" id="{C213EF4A-7DC4-875A-A228-C171406D3AA0}"/>
                  </a:ext>
                </a:extLst>
              </p:cNvPr>
              <p:cNvSpPr>
                <a:spLocks noGrp="1" noRot="1" noChangeAspect="1" noMove="1" noResize="1" noEditPoints="1" noAdjustHandles="1" noChangeArrowheads="1" noChangeShapeType="1" noTextEdit="1"/>
              </p:cNvSpPr>
              <p:nvPr>
                <p:ph idx="1"/>
              </p:nvPr>
            </p:nvSpPr>
            <p:spPr>
              <a:blipFill>
                <a:blip r:embed="rId2"/>
                <a:stretch>
                  <a:fillRect l="-1327" t="-9012" r="-724" b="-4360"/>
                </a:stretch>
              </a:blipFill>
            </p:spPr>
            <p:txBody>
              <a:bodyPr/>
              <a:lstStyle/>
              <a:p>
                <a:r>
                  <a:rPr lang="en-US">
                    <a:noFill/>
                  </a:rPr>
                  <a:t> </a:t>
                </a:r>
              </a:p>
            </p:txBody>
          </p:sp>
        </mc:Fallback>
      </mc:AlternateContent>
    </p:spTree>
    <p:extLst>
      <p:ext uri="{BB962C8B-B14F-4D97-AF65-F5344CB8AC3E}">
        <p14:creationId xmlns:p14="http://schemas.microsoft.com/office/powerpoint/2010/main" val="406435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060A1-1EA3-EC38-93A6-4E880D144910}"/>
              </a:ext>
            </a:extLst>
          </p:cNvPr>
          <p:cNvSpPr>
            <a:spLocks noGrp="1"/>
          </p:cNvSpPr>
          <p:nvPr>
            <p:ph type="title"/>
          </p:nvPr>
        </p:nvSpPr>
        <p:spPr/>
        <p:txBody>
          <a:bodyPr/>
          <a:lstStyle/>
          <a:p>
            <a:r>
              <a:rPr lang="en-US" dirty="0"/>
              <a:t>1.2.4 Using Coulomb’s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3EE490-6D47-4D0E-A57B-0B0D195B8194}"/>
                  </a:ext>
                </a:extLst>
              </p:cNvPr>
              <p:cNvSpPr>
                <a:spLocks noGrp="1"/>
              </p:cNvSpPr>
              <p:nvPr>
                <p:ph idx="1"/>
              </p:nvPr>
            </p:nvSpPr>
            <p:spPr/>
            <p:txBody>
              <a:bodyPr>
                <a:normAutofit fontScale="85000" lnSpcReduction="10000"/>
              </a:bodyPr>
              <a:lstStyle/>
              <a:p>
                <a:r>
                  <a:rPr lang="en-US" dirty="0"/>
                  <a:t>Coulomb’s law is a force law, and forces are vectors.</a:t>
                </a:r>
              </a:p>
              <a:p>
                <a:endParaRPr lang="en-US" dirty="0"/>
              </a:p>
              <a:p>
                <a:r>
                  <a:rPr lang="en-US" dirty="0"/>
                  <a:t>There are three important observations regarding Coulomb’s law:</a:t>
                </a:r>
              </a:p>
              <a:p>
                <a:endParaRPr lang="en-US" dirty="0"/>
              </a:p>
              <a:p>
                <a:pPr marL="971550" lvl="1" indent="-514350">
                  <a:buFont typeface="+mj-lt"/>
                  <a:buAutoNum type="arabicPeriod"/>
                </a:pPr>
                <a:r>
                  <a:rPr lang="en-US" dirty="0"/>
                  <a:t>Coulomb’s law applies only to point charges.</a:t>
                </a:r>
              </a:p>
              <a:p>
                <a:pPr marL="971550" lvl="1" indent="-514350">
                  <a:buFont typeface="+mj-lt"/>
                  <a:buAutoNum type="arabicPeriod"/>
                </a:pPr>
                <a:endParaRPr lang="en-US" dirty="0"/>
              </a:p>
              <a:p>
                <a:pPr marL="971550" lvl="1" indent="-514350">
                  <a:buFont typeface="+mj-lt"/>
                  <a:buAutoNum type="arabicPeriod"/>
                </a:pPr>
                <a:r>
                  <a:rPr lang="en-US" dirty="0"/>
                  <a:t>Coulomb’s law applies only to electrostatics, the forces between stationary charges.</a:t>
                </a:r>
              </a:p>
              <a:p>
                <a:pPr marL="971550" lvl="1" indent="-514350">
                  <a:buFont typeface="+mj-lt"/>
                  <a:buAutoNum type="arabicPeriod"/>
                </a:pPr>
                <a:endParaRPr lang="en-US" dirty="0"/>
              </a:p>
              <a:p>
                <a:pPr marL="971550" lvl="1" indent="-514350">
                  <a:buFont typeface="+mj-lt"/>
                  <a:buAutoNum type="arabicPeriod"/>
                </a:pPr>
                <a:r>
                  <a:rPr lang="en-US" dirty="0"/>
                  <a:t>Electric forces, like other forces, can be superimposed.</a:t>
                </a:r>
              </a:p>
              <a:p>
                <a:pPr marL="457200" lvl="1"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𝑛𝑒𝑡</m:t>
                          </m:r>
                          <m:r>
                            <a:rPr lang="en-US" b="0" i="1" dirty="0" smtClean="0">
                              <a:latin typeface="Cambria Math" panose="02040503050406030204" pitchFamily="18" charset="0"/>
                            </a:rPr>
                            <m:t> </m:t>
                          </m:r>
                          <m:r>
                            <a:rPr lang="en-US" b="0" i="1" dirty="0" smtClean="0">
                              <a:latin typeface="Cambria Math" panose="02040503050406030204" pitchFamily="18" charset="0"/>
                            </a:rPr>
                            <m:t>𝑜𝑛</m:t>
                          </m:r>
                          <m:r>
                            <a:rPr lang="en-US" b="0" i="1" dirty="0" smtClean="0">
                              <a:latin typeface="Cambria Math" panose="02040503050406030204" pitchFamily="18" charset="0"/>
                            </a:rPr>
                            <m:t> </m:t>
                          </m:r>
                          <m:r>
                            <a:rPr lang="en-US" b="0" i="1" dirty="0" smtClean="0">
                              <a:latin typeface="Cambria Math" panose="02040503050406030204" pitchFamily="18" charset="0"/>
                            </a:rPr>
                            <m:t>𝑗</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1 </m:t>
                          </m:r>
                          <m:r>
                            <a:rPr lang="en-US" b="0" i="1" dirty="0" smtClean="0">
                              <a:latin typeface="Cambria Math" panose="02040503050406030204" pitchFamily="18" charset="0"/>
                            </a:rPr>
                            <m:t>𝑜𝑛</m:t>
                          </m:r>
                          <m:r>
                            <a:rPr lang="en-US" b="0" i="1" dirty="0" smtClean="0">
                              <a:latin typeface="Cambria Math" panose="02040503050406030204" pitchFamily="18" charset="0"/>
                            </a:rPr>
                            <m:t> </m:t>
                          </m:r>
                          <m:r>
                            <a:rPr lang="en-US" b="0" i="1" dirty="0" smtClean="0">
                              <a:latin typeface="Cambria Math" panose="02040503050406030204" pitchFamily="18" charset="0"/>
                            </a:rPr>
                            <m:t>𝑗</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a:rPr lang="en-US" b="0" i="1" dirty="0" smtClean="0">
                              <a:latin typeface="Cambria Math" panose="02040503050406030204" pitchFamily="18" charset="0"/>
                            </a:rPr>
                            <m:t>𝑜𝑛</m:t>
                          </m:r>
                          <m:r>
                            <a:rPr lang="en-US" b="0" i="1" dirty="0" smtClean="0">
                              <a:latin typeface="Cambria Math" panose="02040503050406030204" pitchFamily="18" charset="0"/>
                            </a:rPr>
                            <m:t> </m:t>
                          </m:r>
                          <m:r>
                            <a:rPr lang="en-US" b="0" i="1" dirty="0" smtClean="0">
                              <a:latin typeface="Cambria Math" panose="02040503050406030204" pitchFamily="18" charset="0"/>
                            </a:rPr>
                            <m:t>𝑗</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𝐹</m:t>
                              </m:r>
                            </m:e>
                          </m:acc>
                        </m:e>
                        <m:sub>
                          <m:r>
                            <a:rPr lang="en-US" b="0" i="1" dirty="0" smtClean="0">
                              <a:latin typeface="Cambria Math" panose="02040503050406030204" pitchFamily="18" charset="0"/>
                            </a:rPr>
                            <m:t>3</m:t>
                          </m:r>
                          <m:r>
                            <a:rPr lang="en-US" i="1" dirty="0">
                              <a:latin typeface="Cambria Math" panose="02040503050406030204" pitchFamily="18" charset="0"/>
                            </a:rPr>
                            <m:t> </m:t>
                          </m:r>
                          <m:r>
                            <a:rPr lang="en-US" i="1" dirty="0">
                              <a:latin typeface="Cambria Math" panose="02040503050406030204" pitchFamily="18" charset="0"/>
                            </a:rPr>
                            <m:t>𝑜𝑛</m:t>
                          </m:r>
                          <m:r>
                            <a:rPr lang="en-US" i="1" dirty="0">
                              <a:latin typeface="Cambria Math" panose="02040503050406030204" pitchFamily="18" charset="0"/>
                            </a:rPr>
                            <m:t> </m:t>
                          </m:r>
                          <m:r>
                            <a:rPr lang="en-US" i="1" dirty="0">
                              <a:latin typeface="Cambria Math" panose="02040503050406030204" pitchFamily="18" charset="0"/>
                            </a:rPr>
                            <m:t>𝑗</m:t>
                          </m:r>
                        </m:sub>
                      </m:sSub>
                      <m:r>
                        <a:rPr lang="en-US" b="0" i="1" dirty="0"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073EE490-6D47-4D0E-A57B-0B0D195B8194}"/>
                  </a:ext>
                </a:extLst>
              </p:cNvPr>
              <p:cNvSpPr>
                <a:spLocks noGrp="1" noRot="1" noChangeAspect="1" noMove="1" noResize="1" noEditPoints="1" noAdjustHandles="1" noChangeArrowheads="1" noChangeShapeType="1" noTextEdit="1"/>
              </p:cNvSpPr>
              <p:nvPr>
                <p:ph idx="1"/>
              </p:nvPr>
            </p:nvSpPr>
            <p:spPr>
              <a:blipFill>
                <a:blip r:embed="rId2"/>
                <a:stretch>
                  <a:fillRect l="-965" t="-3198" r="-844"/>
                </a:stretch>
              </a:blipFill>
            </p:spPr>
            <p:txBody>
              <a:bodyPr/>
              <a:lstStyle/>
              <a:p>
                <a:r>
                  <a:rPr lang="en-US">
                    <a:noFill/>
                  </a:rPr>
                  <a:t> </a:t>
                </a:r>
              </a:p>
            </p:txBody>
          </p:sp>
        </mc:Fallback>
      </mc:AlternateContent>
    </p:spTree>
    <p:extLst>
      <p:ext uri="{BB962C8B-B14F-4D97-AF65-F5344CB8AC3E}">
        <p14:creationId xmlns:p14="http://schemas.microsoft.com/office/powerpoint/2010/main" val="394086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C2DE2-FD0E-2999-86F1-C8728294D97E}"/>
              </a:ext>
            </a:extLst>
          </p:cNvPr>
          <p:cNvSpPr>
            <a:spLocks noGrp="1"/>
          </p:cNvSpPr>
          <p:nvPr>
            <p:ph type="title"/>
          </p:nvPr>
        </p:nvSpPr>
        <p:spPr/>
        <p:txBody>
          <a:bodyPr/>
          <a:lstStyle/>
          <a:p>
            <a:r>
              <a:rPr lang="en-US" dirty="0"/>
              <a:t>1.2.4 Using Coulomb’s Law</a:t>
            </a:r>
          </a:p>
        </p:txBody>
      </p:sp>
      <p:pic>
        <p:nvPicPr>
          <p:cNvPr id="4" name="Picture 3">
            <a:extLst>
              <a:ext uri="{FF2B5EF4-FFF2-40B4-BE49-F238E27FC236}">
                <a16:creationId xmlns:a16="http://schemas.microsoft.com/office/drawing/2014/main" id="{C1A64121-CE0B-1AB9-E467-576D71C7A4B2}"/>
              </a:ext>
            </a:extLst>
          </p:cNvPr>
          <p:cNvPicPr>
            <a:picLocks noChangeAspect="1"/>
          </p:cNvPicPr>
          <p:nvPr/>
        </p:nvPicPr>
        <p:blipFill>
          <a:blip r:embed="rId2"/>
          <a:stretch>
            <a:fillRect/>
          </a:stretch>
        </p:blipFill>
        <p:spPr>
          <a:xfrm>
            <a:off x="2779776" y="1362284"/>
            <a:ext cx="6771132" cy="5503908"/>
          </a:xfrm>
          <a:prstGeom prst="rect">
            <a:avLst/>
          </a:prstGeom>
        </p:spPr>
      </p:pic>
    </p:spTree>
    <p:extLst>
      <p:ext uri="{BB962C8B-B14F-4D97-AF65-F5344CB8AC3E}">
        <p14:creationId xmlns:p14="http://schemas.microsoft.com/office/powerpoint/2010/main" val="2965035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7ED7-1D16-E392-7132-645C23C29638}"/>
              </a:ext>
            </a:extLst>
          </p:cNvPr>
          <p:cNvSpPr>
            <a:spLocks noGrp="1"/>
          </p:cNvSpPr>
          <p:nvPr>
            <p:ph type="title"/>
          </p:nvPr>
        </p:nvSpPr>
        <p:spPr/>
        <p:txBody>
          <a:bodyPr/>
          <a:lstStyle/>
          <a:p>
            <a:r>
              <a:rPr lang="en-US" dirty="0"/>
              <a:t>Example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E6C0F8-8A9E-2645-25F3-9C58B11093A7}"/>
                  </a:ext>
                </a:extLst>
              </p:cNvPr>
              <p:cNvSpPr>
                <a:spLocks noGrp="1"/>
              </p:cNvSpPr>
              <p:nvPr>
                <p:ph idx="1"/>
              </p:nvPr>
            </p:nvSpPr>
            <p:spPr>
              <a:xfrm>
                <a:off x="838200" y="1609725"/>
                <a:ext cx="10515600" cy="4351338"/>
              </a:xfrm>
            </p:spPr>
            <p:txBody>
              <a:bodyPr/>
              <a:lstStyle/>
              <a:p>
                <a:pPr marL="0" indent="0">
                  <a:buNone/>
                </a:pPr>
                <a:r>
                  <a:rPr lang="en-US" dirty="0"/>
                  <a:t>Two </a:t>
                </a:r>
                <a14:m>
                  <m:oMath xmlns:m="http://schemas.openxmlformats.org/officeDocument/2006/math">
                    <m:r>
                      <a:rPr lang="en-US" b="0" i="1" smtClean="0">
                        <a:latin typeface="Cambria Math" panose="02040503050406030204" pitchFamily="18" charset="0"/>
                      </a:rPr>
                      <m:t>+10</m:t>
                    </m:r>
                    <m:r>
                      <m:rPr>
                        <m:sty m:val="p"/>
                      </m:rPr>
                      <a:rPr lang="en-US" b="0" i="0" smtClean="0">
                        <a:latin typeface="Cambria Math" panose="02040503050406030204" pitchFamily="18" charset="0"/>
                      </a:rPr>
                      <m:t>nC</m:t>
                    </m:r>
                  </m:oMath>
                </a14:m>
                <a:r>
                  <a:rPr lang="en-US" dirty="0"/>
                  <a:t> charged particles are </a:t>
                </a:r>
                <a14:m>
                  <m:oMath xmlns:m="http://schemas.openxmlformats.org/officeDocument/2006/math">
                    <m:r>
                      <a:rPr lang="en-US" b="0" i="1" smtClean="0">
                        <a:latin typeface="Cambria Math" panose="02040503050406030204" pitchFamily="18" charset="0"/>
                      </a:rPr>
                      <m:t>2.0</m:t>
                    </m:r>
                    <m:r>
                      <m:rPr>
                        <m:sty m:val="p"/>
                      </m:rPr>
                      <a:rPr lang="en-US" b="0" i="0" smtClean="0">
                        <a:latin typeface="Cambria Math" panose="02040503050406030204" pitchFamily="18" charset="0"/>
                      </a:rPr>
                      <m:t>cm</m:t>
                    </m:r>
                  </m:oMath>
                </a14:m>
                <a:r>
                  <a:rPr lang="en-US" dirty="0"/>
                  <a:t> apart on the x-axis. What is the net force on a </a:t>
                </a:r>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m:t>
                    </m:r>
                    <m:r>
                      <a:rPr lang="en-US" i="1">
                        <a:latin typeface="Cambria Math" panose="02040503050406030204" pitchFamily="18" charset="0"/>
                      </a:rPr>
                      <m:t>0</m:t>
                    </m:r>
                    <m:r>
                      <m:rPr>
                        <m:sty m:val="p"/>
                      </m:rPr>
                      <a:rPr lang="en-US" i="0">
                        <a:latin typeface="Cambria Math" panose="02040503050406030204" pitchFamily="18" charset="0"/>
                      </a:rPr>
                      <m:t>nC</m:t>
                    </m:r>
                  </m:oMath>
                </a14:m>
                <a:r>
                  <a:rPr lang="en-US" dirty="0"/>
                  <a:t> particle placed halfway between them?</a:t>
                </a:r>
              </a:p>
            </p:txBody>
          </p:sp>
        </mc:Choice>
        <mc:Fallback xmlns="">
          <p:sp>
            <p:nvSpPr>
              <p:cNvPr id="3" name="Content Placeholder 2">
                <a:extLst>
                  <a:ext uri="{FF2B5EF4-FFF2-40B4-BE49-F238E27FC236}">
                    <a16:creationId xmlns:a16="http://schemas.microsoft.com/office/drawing/2014/main" id="{26E6C0F8-8A9E-2645-25F3-9C58B11093A7}"/>
                  </a:ext>
                </a:extLst>
              </p:cNvPr>
              <p:cNvSpPr>
                <a:spLocks noGrp="1" noRot="1" noChangeAspect="1" noMove="1" noResize="1" noEditPoints="1" noAdjustHandles="1" noChangeArrowheads="1" noChangeShapeType="1" noTextEdit="1"/>
              </p:cNvSpPr>
              <p:nvPr>
                <p:ph idx="1"/>
              </p:nvPr>
            </p:nvSpPr>
            <p:spPr>
              <a:xfrm>
                <a:off x="838200" y="1609725"/>
                <a:ext cx="10515600" cy="4351338"/>
              </a:xfrm>
              <a:blipFill>
                <a:blip r:embed="rId2"/>
                <a:stretch>
                  <a:fillRect l="-1568"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F13F57C-1338-5F3D-BF78-FDFFC5DD5E1F}"/>
              </a:ext>
            </a:extLst>
          </p:cNvPr>
          <p:cNvPicPr>
            <a:picLocks noChangeAspect="1"/>
          </p:cNvPicPr>
          <p:nvPr/>
        </p:nvPicPr>
        <p:blipFill>
          <a:blip r:embed="rId3"/>
          <a:stretch>
            <a:fillRect/>
          </a:stretch>
        </p:blipFill>
        <p:spPr>
          <a:xfrm>
            <a:off x="1031747" y="3429000"/>
            <a:ext cx="4692397" cy="145985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3A983D-4430-B4EC-72EF-88053804F599}"/>
                  </a:ext>
                </a:extLst>
              </p:cNvPr>
              <p:cNvSpPr txBox="1"/>
              <p:nvPr/>
            </p:nvSpPr>
            <p:spPr>
              <a:xfrm>
                <a:off x="6114288" y="3429000"/>
                <a:ext cx="5900928" cy="212032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m:rPr>
                              <m:sty m:val="p"/>
                            </m:rPr>
                            <a:rPr lang="en-US" b="0" i="0" smtClean="0">
                              <a:latin typeface="Cambria Math" panose="02040503050406030204" pitchFamily="18" charset="0"/>
                            </a:rPr>
                            <m:t>net</m:t>
                          </m:r>
                        </m:sub>
                      </m:sSub>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acc>
                            <m:accPr>
                              <m:chr m:val="⃗"/>
                              <m:ctrlPr>
                                <a:rPr lang="en-US" b="0" i="1" smtClean="0">
                                  <a:solidFill>
                                    <a:srgbClr val="00B050"/>
                                  </a:solidFill>
                                  <a:latin typeface="Cambria Math" panose="02040503050406030204" pitchFamily="18" charset="0"/>
                                </a:rPr>
                              </m:ctrlPr>
                            </m:accPr>
                            <m:e>
                              <m:r>
                                <m:rPr>
                                  <m:sty m:val="p"/>
                                </m:rPr>
                                <a:rPr lang="en-US" b="0" i="0" smtClean="0">
                                  <a:solidFill>
                                    <a:srgbClr val="00B050"/>
                                  </a:solidFill>
                                  <a:latin typeface="Cambria Math" panose="02040503050406030204" pitchFamily="18" charset="0"/>
                                </a:rPr>
                                <m:t>F</m:t>
                              </m:r>
                            </m:e>
                          </m:acc>
                        </m:e>
                        <m:sub>
                          <m:r>
                            <a:rPr lang="en-US" b="0" i="0" smtClean="0">
                              <a:solidFill>
                                <a:srgbClr val="00B050"/>
                              </a:solidFill>
                              <a:latin typeface="Cambria Math" panose="02040503050406030204" pitchFamily="18" charset="0"/>
                            </a:rPr>
                            <m:t>1 </m:t>
                          </m:r>
                          <m:r>
                            <m:rPr>
                              <m:sty m:val="p"/>
                            </m:rPr>
                            <a:rPr lang="en-US" b="0" i="0" smtClean="0">
                              <a:solidFill>
                                <a:srgbClr val="00B050"/>
                              </a:solidFill>
                              <a:latin typeface="Cambria Math" panose="02040503050406030204" pitchFamily="18" charset="0"/>
                            </a:rPr>
                            <m:t>on</m:t>
                          </m:r>
                          <m:r>
                            <a:rPr lang="en-US" b="0" i="0" smtClean="0">
                              <a:solidFill>
                                <a:srgbClr val="00B050"/>
                              </a:solidFill>
                              <a:latin typeface="Cambria Math" panose="02040503050406030204" pitchFamily="18" charset="0"/>
                            </a:rPr>
                            <m:t> 3</m:t>
                          </m:r>
                        </m:sub>
                      </m:sSub>
                      <m:r>
                        <a:rPr lang="en-US" b="0" i="0"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acc>
                            <m:accPr>
                              <m:chr m:val="⃗"/>
                              <m:ctrlPr>
                                <a:rPr lang="en-US" b="0" i="1" smtClean="0">
                                  <a:solidFill>
                                    <a:srgbClr val="FF0000"/>
                                  </a:solidFill>
                                  <a:latin typeface="Cambria Math" panose="02040503050406030204" pitchFamily="18" charset="0"/>
                                </a:rPr>
                              </m:ctrlPr>
                            </m:accPr>
                            <m:e>
                              <m:r>
                                <m:rPr>
                                  <m:sty m:val="p"/>
                                </m:rPr>
                                <a:rPr lang="en-US" b="0" i="0" smtClean="0">
                                  <a:solidFill>
                                    <a:srgbClr val="FF0000"/>
                                  </a:solidFill>
                                  <a:latin typeface="Cambria Math" panose="02040503050406030204" pitchFamily="18" charset="0"/>
                                </a:rPr>
                                <m:t>F</m:t>
                              </m:r>
                            </m:e>
                          </m:acc>
                        </m:e>
                        <m:sub>
                          <m:r>
                            <a:rPr lang="en-US" b="0" i="0" smtClean="0">
                              <a:solidFill>
                                <a:srgbClr val="FF0000"/>
                              </a:solidFill>
                              <a:latin typeface="Cambria Math" panose="02040503050406030204" pitchFamily="18" charset="0"/>
                            </a:rPr>
                            <m:t>2 </m:t>
                          </m:r>
                          <m:r>
                            <m:rPr>
                              <m:sty m:val="p"/>
                            </m:rPr>
                            <a:rPr lang="en-US" b="0" i="0" smtClean="0">
                              <a:solidFill>
                                <a:srgbClr val="FF0000"/>
                              </a:solidFill>
                              <a:latin typeface="Cambria Math" panose="02040503050406030204" pitchFamily="18" charset="0"/>
                            </a:rPr>
                            <m:t>on</m:t>
                          </m:r>
                          <m:r>
                            <a:rPr lang="en-US" b="0" i="0" smtClean="0">
                              <a:solidFill>
                                <a:srgbClr val="FF0000"/>
                              </a:solidFill>
                              <a:latin typeface="Cambria Math" panose="02040503050406030204" pitchFamily="18" charset="0"/>
                            </a:rPr>
                            <m:t> 3</m:t>
                          </m:r>
                        </m:sub>
                      </m:sSub>
                    </m:oMath>
                  </m:oMathPara>
                </a14:m>
                <a:endParaRPr lang="en-US" dirty="0"/>
              </a:p>
              <a:p>
                <a:endParaRPr lang="en-US" dirty="0"/>
              </a:p>
              <a:p>
                <a:pPr/>
                <a14:m>
                  <m:oMathPara xmlns:m="http://schemas.openxmlformats.org/officeDocument/2006/math">
                    <m:oMathParaPr>
                      <m:jc m:val="left"/>
                    </m:oMathParaPr>
                    <m:oMath xmlns:m="http://schemas.openxmlformats.org/officeDocument/2006/math">
                      <m:sSub>
                        <m:sSubPr>
                          <m:ctrlPr>
                            <a:rPr lang="en-US" sz="1200" b="0" i="1" smtClean="0">
                              <a:solidFill>
                                <a:srgbClr val="00B050"/>
                              </a:solidFill>
                              <a:latin typeface="Cambria Math" panose="02040503050406030204" pitchFamily="18" charset="0"/>
                            </a:rPr>
                          </m:ctrlPr>
                        </m:sSubPr>
                        <m:e>
                          <m:acc>
                            <m:accPr>
                              <m:chr m:val="⃗"/>
                              <m:ctrlPr>
                                <a:rPr lang="en-US" sz="1200" b="0" i="1" smtClean="0">
                                  <a:solidFill>
                                    <a:srgbClr val="00B050"/>
                                  </a:solidFill>
                                  <a:latin typeface="Cambria Math" panose="02040503050406030204" pitchFamily="18" charset="0"/>
                                </a:rPr>
                              </m:ctrlPr>
                            </m:accPr>
                            <m:e>
                              <m:r>
                                <a:rPr lang="en-US" sz="1200" b="0" i="1" smtClean="0">
                                  <a:solidFill>
                                    <a:srgbClr val="00B050"/>
                                  </a:solidFill>
                                  <a:latin typeface="Cambria Math" panose="02040503050406030204" pitchFamily="18" charset="0"/>
                                </a:rPr>
                                <m:t>𝐹</m:t>
                              </m:r>
                            </m:e>
                          </m:acc>
                        </m:e>
                        <m:sub>
                          <m:r>
                            <a:rPr lang="en-US" sz="1200" b="0" i="1" smtClean="0">
                              <a:solidFill>
                                <a:srgbClr val="00B050"/>
                              </a:solidFill>
                              <a:latin typeface="Cambria Math" panose="02040503050406030204" pitchFamily="18" charset="0"/>
                            </a:rPr>
                            <m:t>1</m:t>
                          </m:r>
                          <m:r>
                            <a:rPr lang="en-US" sz="1200" b="0" i="0" smtClean="0">
                              <a:solidFill>
                                <a:srgbClr val="00B050"/>
                              </a:solidFill>
                              <a:latin typeface="Cambria Math" panose="02040503050406030204" pitchFamily="18" charset="0"/>
                            </a:rPr>
                            <m:t> </m:t>
                          </m:r>
                          <m:r>
                            <m:rPr>
                              <m:sty m:val="p"/>
                            </m:rPr>
                            <a:rPr lang="en-US" sz="1200" b="0" i="0" smtClean="0">
                              <a:solidFill>
                                <a:srgbClr val="00B050"/>
                              </a:solidFill>
                              <a:latin typeface="Cambria Math" panose="02040503050406030204" pitchFamily="18" charset="0"/>
                            </a:rPr>
                            <m:t>on</m:t>
                          </m:r>
                          <m:r>
                            <a:rPr lang="en-US" sz="1200" b="0" i="0" smtClean="0">
                              <a:solidFill>
                                <a:srgbClr val="00B050"/>
                              </a:solidFill>
                              <a:latin typeface="Cambria Math" panose="02040503050406030204" pitchFamily="18" charset="0"/>
                            </a:rPr>
                            <m:t> </m:t>
                          </m:r>
                          <m:r>
                            <a:rPr lang="en-US" sz="1200" b="0" i="1" smtClean="0">
                              <a:solidFill>
                                <a:srgbClr val="00B050"/>
                              </a:solidFill>
                              <a:latin typeface="Cambria Math" panose="02040503050406030204" pitchFamily="18" charset="0"/>
                            </a:rPr>
                            <m:t>3</m:t>
                          </m:r>
                        </m:sub>
                      </m:sSub>
                      <m:r>
                        <a:rPr lang="en-US" sz="1200" b="0" i="1" smtClean="0">
                          <a:solidFill>
                            <a:srgbClr val="00B050"/>
                          </a:solidFill>
                          <a:latin typeface="Cambria Math" panose="02040503050406030204" pitchFamily="18" charset="0"/>
                        </a:rPr>
                        <m:t>=</m:t>
                      </m:r>
                      <m:r>
                        <a:rPr lang="en-US" sz="1200" b="0" i="1" smtClean="0">
                          <a:solidFill>
                            <a:srgbClr val="00B050"/>
                          </a:solidFill>
                          <a:latin typeface="Cambria Math" panose="02040503050406030204" pitchFamily="18" charset="0"/>
                        </a:rPr>
                        <m:t>𝐾</m:t>
                      </m:r>
                      <m:f>
                        <m:fPr>
                          <m:ctrlPr>
                            <a:rPr lang="en-US" sz="1200" b="0" i="1" smtClean="0">
                              <a:solidFill>
                                <a:srgbClr val="00B050"/>
                              </a:solidFill>
                              <a:latin typeface="Cambria Math" panose="02040503050406030204" pitchFamily="18" charset="0"/>
                            </a:rPr>
                          </m:ctrlPr>
                        </m:fPr>
                        <m:num>
                          <m:d>
                            <m:dPr>
                              <m:begChr m:val="|"/>
                              <m:endChr m:val="|"/>
                              <m:ctrlPr>
                                <a:rPr lang="en-US" sz="1200" b="0" i="1" smtClean="0">
                                  <a:solidFill>
                                    <a:srgbClr val="00B050"/>
                                  </a:solidFill>
                                  <a:latin typeface="Cambria Math" panose="02040503050406030204" pitchFamily="18" charset="0"/>
                                </a:rPr>
                              </m:ctrlPr>
                            </m:dPr>
                            <m:e>
                              <m:sSub>
                                <m:sSubPr>
                                  <m:ctrlPr>
                                    <a:rPr lang="en-US" sz="1200" b="0" i="1" smtClean="0">
                                      <a:solidFill>
                                        <a:srgbClr val="00B050"/>
                                      </a:solidFill>
                                      <a:latin typeface="Cambria Math" panose="02040503050406030204" pitchFamily="18" charset="0"/>
                                    </a:rPr>
                                  </m:ctrlPr>
                                </m:sSubPr>
                                <m:e>
                                  <m:r>
                                    <a:rPr lang="en-US" sz="1200" b="0" i="1" smtClean="0">
                                      <a:solidFill>
                                        <a:srgbClr val="00B050"/>
                                      </a:solidFill>
                                      <a:latin typeface="Cambria Math" panose="02040503050406030204" pitchFamily="18" charset="0"/>
                                    </a:rPr>
                                    <m:t>𝑞</m:t>
                                  </m:r>
                                </m:e>
                                <m:sub>
                                  <m:r>
                                    <a:rPr lang="en-US" sz="1200" b="0" i="1" smtClean="0">
                                      <a:solidFill>
                                        <a:srgbClr val="00B050"/>
                                      </a:solidFill>
                                      <a:latin typeface="Cambria Math" panose="02040503050406030204" pitchFamily="18" charset="0"/>
                                    </a:rPr>
                                    <m:t>1</m:t>
                                  </m:r>
                                </m:sub>
                              </m:sSub>
                            </m:e>
                          </m:d>
                          <m:d>
                            <m:dPr>
                              <m:begChr m:val="|"/>
                              <m:endChr m:val="|"/>
                              <m:ctrlPr>
                                <a:rPr lang="en-US" sz="1200" b="0" i="1" smtClean="0">
                                  <a:solidFill>
                                    <a:srgbClr val="00B050"/>
                                  </a:solidFill>
                                  <a:latin typeface="Cambria Math" panose="02040503050406030204" pitchFamily="18" charset="0"/>
                                </a:rPr>
                              </m:ctrlPr>
                            </m:dPr>
                            <m:e>
                              <m:sSub>
                                <m:sSubPr>
                                  <m:ctrlPr>
                                    <a:rPr lang="en-US" sz="1200" b="0" i="1" smtClean="0">
                                      <a:solidFill>
                                        <a:srgbClr val="00B050"/>
                                      </a:solidFill>
                                      <a:latin typeface="Cambria Math" panose="02040503050406030204" pitchFamily="18" charset="0"/>
                                    </a:rPr>
                                  </m:ctrlPr>
                                </m:sSubPr>
                                <m:e>
                                  <m:r>
                                    <a:rPr lang="en-US" sz="1200" b="0" i="1" smtClean="0">
                                      <a:solidFill>
                                        <a:srgbClr val="00B050"/>
                                      </a:solidFill>
                                      <a:latin typeface="Cambria Math" panose="02040503050406030204" pitchFamily="18" charset="0"/>
                                    </a:rPr>
                                    <m:t>𝑞</m:t>
                                  </m:r>
                                </m:e>
                                <m:sub>
                                  <m:r>
                                    <a:rPr lang="en-US" sz="1200" b="0" i="1" smtClean="0">
                                      <a:solidFill>
                                        <a:srgbClr val="00B050"/>
                                      </a:solidFill>
                                      <a:latin typeface="Cambria Math" panose="02040503050406030204" pitchFamily="18" charset="0"/>
                                    </a:rPr>
                                    <m:t>3</m:t>
                                  </m:r>
                                </m:sub>
                              </m:sSub>
                            </m:e>
                          </m:d>
                        </m:num>
                        <m:den>
                          <m:sSup>
                            <m:sSupPr>
                              <m:ctrlPr>
                                <a:rPr lang="en-US" sz="1200" b="0" i="1" smtClean="0">
                                  <a:solidFill>
                                    <a:srgbClr val="00B050"/>
                                  </a:solidFill>
                                  <a:latin typeface="Cambria Math" panose="02040503050406030204" pitchFamily="18" charset="0"/>
                                </a:rPr>
                              </m:ctrlPr>
                            </m:sSupPr>
                            <m:e>
                              <m:r>
                                <a:rPr lang="en-US" sz="1200" b="0" i="1" smtClean="0">
                                  <a:solidFill>
                                    <a:srgbClr val="00B050"/>
                                  </a:solidFill>
                                  <a:latin typeface="Cambria Math" panose="02040503050406030204" pitchFamily="18" charset="0"/>
                                </a:rPr>
                                <m:t>𝑟</m:t>
                              </m:r>
                            </m:e>
                            <m:sup>
                              <m:r>
                                <a:rPr lang="en-US" sz="1200" b="0" i="1" smtClean="0">
                                  <a:solidFill>
                                    <a:srgbClr val="00B050"/>
                                  </a:solidFill>
                                  <a:latin typeface="Cambria Math" panose="02040503050406030204" pitchFamily="18" charset="0"/>
                                </a:rPr>
                                <m:t>2</m:t>
                              </m:r>
                            </m:sup>
                          </m:sSup>
                        </m:den>
                      </m:f>
                      <m:r>
                        <a:rPr lang="en-US" sz="1200" b="0" i="1" smtClean="0">
                          <a:solidFill>
                            <a:srgbClr val="00B050"/>
                          </a:solidFill>
                          <a:latin typeface="Cambria Math" panose="02040503050406030204" pitchFamily="18" charset="0"/>
                        </a:rPr>
                        <m:t>=</m:t>
                      </m:r>
                      <m:d>
                        <m:dPr>
                          <m:ctrlPr>
                            <a:rPr lang="en-US" sz="1200" b="0" i="1" smtClean="0">
                              <a:solidFill>
                                <a:srgbClr val="00B050"/>
                              </a:solidFill>
                              <a:latin typeface="Cambria Math" panose="02040503050406030204" pitchFamily="18" charset="0"/>
                            </a:rPr>
                          </m:ctrlPr>
                        </m:dPr>
                        <m:e>
                          <m:r>
                            <a:rPr lang="en-US" sz="1200" b="0" i="0" smtClean="0">
                              <a:solidFill>
                                <a:srgbClr val="00B050"/>
                              </a:solidFill>
                              <a:latin typeface="Cambria Math" panose="02040503050406030204" pitchFamily="18" charset="0"/>
                            </a:rPr>
                            <m:t>9.0×</m:t>
                          </m:r>
                          <m:sSup>
                            <m:sSupPr>
                              <m:ctrlPr>
                                <a:rPr lang="en-US" sz="1200" b="0" i="1" smtClean="0">
                                  <a:solidFill>
                                    <a:srgbClr val="00B050"/>
                                  </a:solidFill>
                                  <a:latin typeface="Cambria Math" panose="02040503050406030204" pitchFamily="18" charset="0"/>
                                </a:rPr>
                              </m:ctrlPr>
                            </m:sSupPr>
                            <m:e>
                              <m:r>
                                <a:rPr lang="en-US" sz="1200" b="0" i="0" smtClean="0">
                                  <a:solidFill>
                                    <a:srgbClr val="00B050"/>
                                  </a:solidFill>
                                  <a:latin typeface="Cambria Math" panose="02040503050406030204" pitchFamily="18" charset="0"/>
                                </a:rPr>
                                <m:t>10</m:t>
                              </m:r>
                            </m:e>
                            <m:sup>
                              <m:r>
                                <a:rPr lang="en-US" sz="1200" b="0" i="0" smtClean="0">
                                  <a:solidFill>
                                    <a:srgbClr val="00B050"/>
                                  </a:solidFill>
                                  <a:latin typeface="Cambria Math" panose="02040503050406030204" pitchFamily="18" charset="0"/>
                                </a:rPr>
                                <m:t>9</m:t>
                              </m:r>
                            </m:sup>
                          </m:sSup>
                          <m:f>
                            <m:fPr>
                              <m:type m:val="lin"/>
                              <m:ctrlPr>
                                <a:rPr lang="en-US" sz="1200" i="1" dirty="0" smtClean="0">
                                  <a:solidFill>
                                    <a:srgbClr val="00B050"/>
                                  </a:solidFill>
                                  <a:latin typeface="Cambria Math" panose="02040503050406030204" pitchFamily="18" charset="0"/>
                                </a:rPr>
                              </m:ctrlPr>
                            </m:fPr>
                            <m:num>
                              <m:r>
                                <m:rPr>
                                  <m:sty m:val="p"/>
                                </m:rPr>
                                <a:rPr lang="en-US" sz="1200" b="0" i="0" dirty="0" smtClean="0">
                                  <a:solidFill>
                                    <a:srgbClr val="00B050"/>
                                  </a:solidFill>
                                  <a:latin typeface="Cambria Math" panose="02040503050406030204" pitchFamily="18" charset="0"/>
                                </a:rPr>
                                <m:t>N</m:t>
                              </m:r>
                              <m:sSup>
                                <m:sSupPr>
                                  <m:ctrlPr>
                                    <a:rPr lang="en-US" sz="1200" b="0" i="1" dirty="0" smtClean="0">
                                      <a:solidFill>
                                        <a:srgbClr val="00B050"/>
                                      </a:solidFill>
                                      <a:latin typeface="Cambria Math" panose="02040503050406030204" pitchFamily="18" charset="0"/>
                                    </a:rPr>
                                  </m:ctrlPr>
                                </m:sSupPr>
                                <m:e>
                                  <m:r>
                                    <m:rPr>
                                      <m:sty m:val="p"/>
                                    </m:rPr>
                                    <a:rPr lang="en-US" sz="1200" b="0" i="0" dirty="0" smtClean="0">
                                      <a:solidFill>
                                        <a:srgbClr val="00B050"/>
                                      </a:solidFill>
                                      <a:latin typeface="Cambria Math" panose="02040503050406030204" pitchFamily="18" charset="0"/>
                                    </a:rPr>
                                    <m:t>m</m:t>
                                  </m:r>
                                </m:e>
                                <m:sup>
                                  <m:r>
                                    <a:rPr lang="en-US" sz="1200" b="0" i="0" dirty="0" smtClean="0">
                                      <a:solidFill>
                                        <a:srgbClr val="00B050"/>
                                      </a:solidFill>
                                      <a:latin typeface="Cambria Math" panose="02040503050406030204" pitchFamily="18" charset="0"/>
                                    </a:rPr>
                                    <m:t>2</m:t>
                                  </m:r>
                                </m:sup>
                              </m:sSup>
                            </m:num>
                            <m:den>
                              <m:sSup>
                                <m:sSupPr>
                                  <m:ctrlPr>
                                    <a:rPr lang="en-US" sz="1200" b="0" i="1" dirty="0" smtClean="0">
                                      <a:solidFill>
                                        <a:srgbClr val="00B050"/>
                                      </a:solidFill>
                                      <a:latin typeface="Cambria Math" panose="02040503050406030204" pitchFamily="18" charset="0"/>
                                    </a:rPr>
                                  </m:ctrlPr>
                                </m:sSupPr>
                                <m:e>
                                  <m:r>
                                    <m:rPr>
                                      <m:sty m:val="p"/>
                                    </m:rPr>
                                    <a:rPr lang="en-US" sz="1200" b="0" i="0" dirty="0" smtClean="0">
                                      <a:solidFill>
                                        <a:srgbClr val="00B050"/>
                                      </a:solidFill>
                                      <a:latin typeface="Cambria Math" panose="02040503050406030204" pitchFamily="18" charset="0"/>
                                    </a:rPr>
                                    <m:t>C</m:t>
                                  </m:r>
                                </m:e>
                                <m:sup>
                                  <m:r>
                                    <a:rPr lang="en-US" sz="1200" b="0" i="0" dirty="0" smtClean="0">
                                      <a:solidFill>
                                        <a:srgbClr val="00B050"/>
                                      </a:solidFill>
                                      <a:latin typeface="Cambria Math" panose="02040503050406030204" pitchFamily="18" charset="0"/>
                                    </a:rPr>
                                    <m:t>2</m:t>
                                  </m:r>
                                </m:sup>
                              </m:sSup>
                            </m:den>
                          </m:f>
                        </m:e>
                      </m:d>
                      <m:f>
                        <m:fPr>
                          <m:ctrlPr>
                            <a:rPr lang="en-US" sz="1200" b="0" i="1" smtClean="0">
                              <a:solidFill>
                                <a:srgbClr val="00B050"/>
                              </a:solidFill>
                              <a:latin typeface="Cambria Math" panose="02040503050406030204" pitchFamily="18" charset="0"/>
                            </a:rPr>
                          </m:ctrlPr>
                        </m:fPr>
                        <m:num>
                          <m:d>
                            <m:dPr>
                              <m:begChr m:val="|"/>
                              <m:endChr m:val="|"/>
                              <m:ctrlPr>
                                <a:rPr lang="en-US" sz="1200" b="0" i="1" smtClean="0">
                                  <a:solidFill>
                                    <a:srgbClr val="00B050"/>
                                  </a:solidFill>
                                  <a:latin typeface="Cambria Math" panose="02040503050406030204" pitchFamily="18" charset="0"/>
                                </a:rPr>
                              </m:ctrlPr>
                            </m:dPr>
                            <m:e>
                              <m:r>
                                <a:rPr lang="en-US" sz="1200" b="0" i="0" smtClean="0">
                                  <a:solidFill>
                                    <a:srgbClr val="00B050"/>
                                  </a:solidFill>
                                  <a:latin typeface="Cambria Math" panose="02040503050406030204" pitchFamily="18" charset="0"/>
                                </a:rPr>
                                <m:t>10×</m:t>
                              </m:r>
                              <m:sSup>
                                <m:sSupPr>
                                  <m:ctrlPr>
                                    <a:rPr lang="en-US" sz="1200" b="0" i="1" smtClean="0">
                                      <a:solidFill>
                                        <a:srgbClr val="00B050"/>
                                      </a:solidFill>
                                      <a:latin typeface="Cambria Math" panose="02040503050406030204" pitchFamily="18" charset="0"/>
                                    </a:rPr>
                                  </m:ctrlPr>
                                </m:sSupPr>
                                <m:e>
                                  <m:r>
                                    <a:rPr lang="en-US" sz="1200" b="0" i="0" smtClean="0">
                                      <a:solidFill>
                                        <a:srgbClr val="00B050"/>
                                      </a:solidFill>
                                      <a:latin typeface="Cambria Math" panose="02040503050406030204" pitchFamily="18" charset="0"/>
                                    </a:rPr>
                                    <m:t>10</m:t>
                                  </m:r>
                                </m:e>
                                <m:sup>
                                  <m:r>
                                    <a:rPr lang="en-US" sz="1200" b="0" i="0" smtClean="0">
                                      <a:solidFill>
                                        <a:srgbClr val="00B050"/>
                                      </a:solidFill>
                                      <a:latin typeface="Cambria Math" panose="02040503050406030204" pitchFamily="18" charset="0"/>
                                    </a:rPr>
                                    <m:t>−9</m:t>
                                  </m:r>
                                </m:sup>
                              </m:sSup>
                              <m:r>
                                <m:rPr>
                                  <m:sty m:val="p"/>
                                </m:rPr>
                                <a:rPr lang="en-US" sz="1200" b="0" i="0" smtClean="0">
                                  <a:solidFill>
                                    <a:srgbClr val="00B050"/>
                                  </a:solidFill>
                                  <a:latin typeface="Cambria Math" panose="02040503050406030204" pitchFamily="18" charset="0"/>
                                </a:rPr>
                                <m:t>C</m:t>
                              </m:r>
                            </m:e>
                          </m:d>
                          <m:r>
                            <a:rPr lang="en-US" sz="1200" b="0" i="0" smtClean="0">
                              <a:solidFill>
                                <a:srgbClr val="00B050"/>
                              </a:solidFill>
                              <a:latin typeface="Cambria Math" panose="02040503050406030204" pitchFamily="18" charset="0"/>
                            </a:rPr>
                            <m:t>|1.0×</m:t>
                          </m:r>
                          <m:sSup>
                            <m:sSupPr>
                              <m:ctrlPr>
                                <a:rPr lang="en-US" sz="1200" b="0" i="1" smtClean="0">
                                  <a:solidFill>
                                    <a:srgbClr val="00B050"/>
                                  </a:solidFill>
                                  <a:latin typeface="Cambria Math" panose="02040503050406030204" pitchFamily="18" charset="0"/>
                                </a:rPr>
                              </m:ctrlPr>
                            </m:sSupPr>
                            <m:e>
                              <m:r>
                                <a:rPr lang="en-US" sz="1200" b="0" i="0" smtClean="0">
                                  <a:solidFill>
                                    <a:srgbClr val="00B050"/>
                                  </a:solidFill>
                                  <a:latin typeface="Cambria Math" panose="02040503050406030204" pitchFamily="18" charset="0"/>
                                </a:rPr>
                                <m:t>10</m:t>
                              </m:r>
                            </m:e>
                            <m:sup>
                              <m:r>
                                <a:rPr lang="en-US" sz="1200" b="0" i="0" smtClean="0">
                                  <a:solidFill>
                                    <a:srgbClr val="00B050"/>
                                  </a:solidFill>
                                  <a:latin typeface="Cambria Math" panose="02040503050406030204" pitchFamily="18" charset="0"/>
                                </a:rPr>
                                <m:t>−9</m:t>
                              </m:r>
                            </m:sup>
                          </m:sSup>
                          <m:r>
                            <m:rPr>
                              <m:sty m:val="p"/>
                            </m:rPr>
                            <a:rPr lang="en-US" sz="1200" b="0" i="0" smtClean="0">
                              <a:solidFill>
                                <a:srgbClr val="00B050"/>
                              </a:solidFill>
                              <a:latin typeface="Cambria Math" panose="02040503050406030204" pitchFamily="18" charset="0"/>
                            </a:rPr>
                            <m:t>C</m:t>
                          </m:r>
                          <m:r>
                            <a:rPr lang="en-US" sz="1200" b="0" i="0" smtClean="0">
                              <a:solidFill>
                                <a:srgbClr val="00B050"/>
                              </a:solidFill>
                              <a:latin typeface="Cambria Math" panose="02040503050406030204" pitchFamily="18" charset="0"/>
                            </a:rPr>
                            <m:t>|</m:t>
                          </m:r>
                        </m:num>
                        <m:den>
                          <m:sSup>
                            <m:sSupPr>
                              <m:ctrlPr>
                                <a:rPr lang="en-US" sz="1200" b="0" i="1" smtClean="0">
                                  <a:solidFill>
                                    <a:srgbClr val="00B050"/>
                                  </a:solidFill>
                                  <a:latin typeface="Cambria Math" panose="02040503050406030204" pitchFamily="18" charset="0"/>
                                </a:rPr>
                              </m:ctrlPr>
                            </m:sSupPr>
                            <m:e>
                              <m:d>
                                <m:dPr>
                                  <m:ctrlPr>
                                    <a:rPr lang="en-US" sz="1200" b="0" i="1" smtClean="0">
                                      <a:solidFill>
                                        <a:srgbClr val="00B050"/>
                                      </a:solidFill>
                                      <a:latin typeface="Cambria Math" panose="02040503050406030204" pitchFamily="18" charset="0"/>
                                    </a:rPr>
                                  </m:ctrlPr>
                                </m:dPr>
                                <m:e>
                                  <m:r>
                                    <a:rPr lang="en-US" sz="1200" b="0" i="0" smtClean="0">
                                      <a:solidFill>
                                        <a:srgbClr val="00B050"/>
                                      </a:solidFill>
                                      <a:latin typeface="Cambria Math" panose="02040503050406030204" pitchFamily="18" charset="0"/>
                                    </a:rPr>
                                    <m:t>0.010</m:t>
                                  </m:r>
                                  <m:r>
                                    <m:rPr>
                                      <m:sty m:val="p"/>
                                    </m:rPr>
                                    <a:rPr lang="en-US" sz="1200" b="0" i="0" smtClean="0">
                                      <a:solidFill>
                                        <a:srgbClr val="00B050"/>
                                      </a:solidFill>
                                      <a:latin typeface="Cambria Math" panose="02040503050406030204" pitchFamily="18" charset="0"/>
                                    </a:rPr>
                                    <m:t>m</m:t>
                                  </m:r>
                                </m:e>
                              </m:d>
                            </m:e>
                            <m:sup>
                              <m:r>
                                <a:rPr lang="en-US" sz="1200" b="0" i="0" smtClean="0">
                                  <a:solidFill>
                                    <a:srgbClr val="00B050"/>
                                  </a:solidFill>
                                  <a:latin typeface="Cambria Math" panose="02040503050406030204" pitchFamily="18" charset="0"/>
                                </a:rPr>
                                <m:t>2</m:t>
                              </m:r>
                            </m:sup>
                          </m:sSup>
                        </m:den>
                      </m:f>
                      <m:r>
                        <a:rPr lang="en-US" sz="1200" b="0" i="0" smtClean="0">
                          <a:solidFill>
                            <a:srgbClr val="00B050"/>
                          </a:solidFill>
                          <a:latin typeface="Cambria Math" panose="02040503050406030204" pitchFamily="18" charset="0"/>
                        </a:rPr>
                        <m:t>=9.0</m:t>
                      </m:r>
                      <m:r>
                        <a:rPr lang="en-US" sz="1200" b="0" i="1" smtClean="0">
                          <a:solidFill>
                            <a:srgbClr val="00B050"/>
                          </a:solidFill>
                          <a:latin typeface="Cambria Math" panose="02040503050406030204" pitchFamily="18" charset="0"/>
                        </a:rPr>
                        <m:t>×</m:t>
                      </m:r>
                      <m:sSup>
                        <m:sSupPr>
                          <m:ctrlPr>
                            <a:rPr lang="en-US" sz="1200" b="0" i="1" smtClean="0">
                              <a:solidFill>
                                <a:srgbClr val="00B050"/>
                              </a:solidFill>
                              <a:latin typeface="Cambria Math" panose="02040503050406030204" pitchFamily="18" charset="0"/>
                            </a:rPr>
                          </m:ctrlPr>
                        </m:sSupPr>
                        <m:e>
                          <m:r>
                            <a:rPr lang="en-US" sz="1200" b="0" i="1" smtClean="0">
                              <a:solidFill>
                                <a:srgbClr val="00B050"/>
                              </a:solidFill>
                              <a:latin typeface="Cambria Math" panose="02040503050406030204" pitchFamily="18" charset="0"/>
                            </a:rPr>
                            <m:t>10</m:t>
                          </m:r>
                        </m:e>
                        <m:sup>
                          <m:r>
                            <a:rPr lang="en-US" sz="1200" b="0" i="1" smtClean="0">
                              <a:solidFill>
                                <a:srgbClr val="00B050"/>
                              </a:solidFill>
                              <a:latin typeface="Cambria Math" panose="02040503050406030204" pitchFamily="18" charset="0"/>
                            </a:rPr>
                            <m:t>−4</m:t>
                          </m:r>
                        </m:sup>
                      </m:sSup>
                      <m:r>
                        <m:rPr>
                          <m:sty m:val="p"/>
                        </m:rPr>
                        <a:rPr lang="en-US" sz="1200" b="0" i="0" smtClean="0">
                          <a:solidFill>
                            <a:srgbClr val="00B050"/>
                          </a:solidFill>
                          <a:latin typeface="Cambria Math" panose="02040503050406030204" pitchFamily="18" charset="0"/>
                        </a:rPr>
                        <m:t>N</m:t>
                      </m:r>
                    </m:oMath>
                  </m:oMathPara>
                </a14:m>
                <a:endParaRPr lang="en-US" sz="1200" b="0" dirty="0">
                  <a:solidFill>
                    <a:srgbClr val="00B050"/>
                  </a:solidFill>
                </a:endParaRPr>
              </a:p>
              <a:p>
                <a:endParaRPr lang="en-US" dirty="0"/>
              </a:p>
              <a:p>
                <a:pPr/>
                <a14:m>
                  <m:oMathPara xmlns:m="http://schemas.openxmlformats.org/officeDocument/2006/math">
                    <m:oMathParaPr>
                      <m:jc m:val="left"/>
                    </m:oMathParaPr>
                    <m:oMath xmlns:m="http://schemas.openxmlformats.org/officeDocument/2006/math">
                      <m:sSub>
                        <m:sSubPr>
                          <m:ctrlPr>
                            <a:rPr lang="en-US" sz="1200" b="0" i="1" smtClean="0">
                              <a:solidFill>
                                <a:srgbClr val="FF0000"/>
                              </a:solidFill>
                              <a:latin typeface="Cambria Math" panose="02040503050406030204" pitchFamily="18" charset="0"/>
                            </a:rPr>
                          </m:ctrlPr>
                        </m:sSubPr>
                        <m:e>
                          <m:acc>
                            <m:accPr>
                              <m:chr m:val="⃗"/>
                              <m:ctrlPr>
                                <a:rPr lang="en-US" sz="1200" b="0" i="1" smtClean="0">
                                  <a:solidFill>
                                    <a:srgbClr val="FF0000"/>
                                  </a:solidFill>
                                  <a:latin typeface="Cambria Math" panose="02040503050406030204" pitchFamily="18" charset="0"/>
                                </a:rPr>
                              </m:ctrlPr>
                            </m:accPr>
                            <m:e>
                              <m:r>
                                <a:rPr lang="en-US" sz="1200" b="0" i="1" smtClean="0">
                                  <a:solidFill>
                                    <a:srgbClr val="FF0000"/>
                                  </a:solidFill>
                                  <a:latin typeface="Cambria Math" panose="02040503050406030204" pitchFamily="18" charset="0"/>
                                </a:rPr>
                                <m:t>𝐹</m:t>
                              </m:r>
                            </m:e>
                          </m:acc>
                        </m:e>
                        <m:sub>
                          <m:r>
                            <a:rPr lang="en-US" sz="1200" b="0" i="1" smtClean="0">
                              <a:solidFill>
                                <a:srgbClr val="FF0000"/>
                              </a:solidFill>
                              <a:latin typeface="Cambria Math" panose="02040503050406030204" pitchFamily="18" charset="0"/>
                            </a:rPr>
                            <m:t>2 </m:t>
                          </m:r>
                          <m:r>
                            <m:rPr>
                              <m:sty m:val="p"/>
                            </m:rPr>
                            <a:rPr lang="en-US" sz="1200" b="0" i="0" smtClean="0">
                              <a:solidFill>
                                <a:srgbClr val="FF0000"/>
                              </a:solidFill>
                              <a:latin typeface="Cambria Math" panose="02040503050406030204" pitchFamily="18" charset="0"/>
                            </a:rPr>
                            <m:t>on</m:t>
                          </m:r>
                          <m:r>
                            <a:rPr lang="en-US" sz="1200" b="0" i="1" smtClean="0">
                              <a:solidFill>
                                <a:srgbClr val="FF0000"/>
                              </a:solidFill>
                              <a:latin typeface="Cambria Math" panose="02040503050406030204" pitchFamily="18" charset="0"/>
                            </a:rPr>
                            <m:t> 3</m:t>
                          </m:r>
                        </m:sub>
                      </m:sSub>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𝐾</m:t>
                      </m:r>
                      <m:f>
                        <m:fPr>
                          <m:ctrlPr>
                            <a:rPr lang="en-US" sz="1200" b="0" i="1" smtClean="0">
                              <a:solidFill>
                                <a:srgbClr val="FF0000"/>
                              </a:solidFill>
                              <a:latin typeface="Cambria Math" panose="02040503050406030204" pitchFamily="18" charset="0"/>
                            </a:rPr>
                          </m:ctrlPr>
                        </m:fPr>
                        <m:num>
                          <m:d>
                            <m:dPr>
                              <m:begChr m:val="|"/>
                              <m:endChr m:val="|"/>
                              <m:ctrlPr>
                                <a:rPr lang="en-US" sz="1200" b="0" i="1" smtClean="0">
                                  <a:solidFill>
                                    <a:srgbClr val="FF0000"/>
                                  </a:solidFill>
                                  <a:latin typeface="Cambria Math" panose="02040503050406030204" pitchFamily="18" charset="0"/>
                                </a:rPr>
                              </m:ctrlPr>
                            </m:dPr>
                            <m:e>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𝑞</m:t>
                                  </m:r>
                                </m:e>
                                <m:sub>
                                  <m:r>
                                    <a:rPr lang="en-US" sz="1200" b="0" i="1" smtClean="0">
                                      <a:solidFill>
                                        <a:srgbClr val="FF0000"/>
                                      </a:solidFill>
                                      <a:latin typeface="Cambria Math" panose="02040503050406030204" pitchFamily="18" charset="0"/>
                                    </a:rPr>
                                    <m:t>2</m:t>
                                  </m:r>
                                </m:sub>
                              </m:sSub>
                            </m:e>
                          </m:d>
                          <m:d>
                            <m:dPr>
                              <m:begChr m:val="|"/>
                              <m:endChr m:val="|"/>
                              <m:ctrlPr>
                                <a:rPr lang="en-US" sz="1200" b="0" i="1" smtClean="0">
                                  <a:solidFill>
                                    <a:srgbClr val="FF0000"/>
                                  </a:solidFill>
                                  <a:latin typeface="Cambria Math" panose="02040503050406030204" pitchFamily="18" charset="0"/>
                                </a:rPr>
                              </m:ctrlPr>
                            </m:dPr>
                            <m:e>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𝑞</m:t>
                                  </m:r>
                                </m:e>
                                <m:sub>
                                  <m:r>
                                    <a:rPr lang="en-US" sz="1200" b="0" i="1" smtClean="0">
                                      <a:solidFill>
                                        <a:srgbClr val="FF0000"/>
                                      </a:solidFill>
                                      <a:latin typeface="Cambria Math" panose="02040503050406030204" pitchFamily="18" charset="0"/>
                                    </a:rPr>
                                    <m:t>3</m:t>
                                  </m:r>
                                </m:sub>
                              </m:sSub>
                            </m:e>
                          </m:d>
                        </m:num>
                        <m:den>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2</m:t>
                              </m:r>
                            </m:sup>
                          </m:sSup>
                        </m:den>
                      </m:f>
                      <m:r>
                        <a:rPr lang="en-US" sz="1200" b="0" i="1" smtClean="0">
                          <a:solidFill>
                            <a:srgbClr val="FF0000"/>
                          </a:solidFill>
                          <a:latin typeface="Cambria Math" panose="02040503050406030204" pitchFamily="18" charset="0"/>
                        </a:rPr>
                        <m:t>=</m:t>
                      </m:r>
                      <m:d>
                        <m:dPr>
                          <m:ctrlPr>
                            <a:rPr lang="en-US" sz="1200" b="0" i="1" smtClean="0">
                              <a:solidFill>
                                <a:srgbClr val="FF0000"/>
                              </a:solidFill>
                              <a:latin typeface="Cambria Math" panose="02040503050406030204" pitchFamily="18" charset="0"/>
                            </a:rPr>
                          </m:ctrlPr>
                        </m:dPr>
                        <m:e>
                          <m:r>
                            <a:rPr lang="en-US" sz="1200" b="0" i="0" smtClean="0">
                              <a:solidFill>
                                <a:srgbClr val="FF0000"/>
                              </a:solidFill>
                              <a:latin typeface="Cambria Math" panose="02040503050406030204" pitchFamily="18" charset="0"/>
                            </a:rPr>
                            <m:t>9.0×</m:t>
                          </m:r>
                          <m:sSup>
                            <m:sSupPr>
                              <m:ctrlPr>
                                <a:rPr lang="en-US" sz="1200" b="0" i="1" smtClean="0">
                                  <a:solidFill>
                                    <a:srgbClr val="FF0000"/>
                                  </a:solidFill>
                                  <a:latin typeface="Cambria Math" panose="02040503050406030204" pitchFamily="18" charset="0"/>
                                </a:rPr>
                              </m:ctrlPr>
                            </m:sSupPr>
                            <m:e>
                              <m:r>
                                <a:rPr lang="en-US" sz="1200" b="0" i="0" smtClean="0">
                                  <a:solidFill>
                                    <a:srgbClr val="FF0000"/>
                                  </a:solidFill>
                                  <a:latin typeface="Cambria Math" panose="02040503050406030204" pitchFamily="18" charset="0"/>
                                </a:rPr>
                                <m:t>10</m:t>
                              </m:r>
                            </m:e>
                            <m:sup>
                              <m:r>
                                <a:rPr lang="en-US" sz="1200" b="0" i="0" smtClean="0">
                                  <a:solidFill>
                                    <a:srgbClr val="FF0000"/>
                                  </a:solidFill>
                                  <a:latin typeface="Cambria Math" panose="02040503050406030204" pitchFamily="18" charset="0"/>
                                </a:rPr>
                                <m:t>9</m:t>
                              </m:r>
                            </m:sup>
                          </m:sSup>
                          <m:f>
                            <m:fPr>
                              <m:type m:val="lin"/>
                              <m:ctrlPr>
                                <a:rPr lang="en-US" sz="1200" i="1" dirty="0" smtClean="0">
                                  <a:solidFill>
                                    <a:srgbClr val="FF0000"/>
                                  </a:solidFill>
                                  <a:latin typeface="Cambria Math" panose="02040503050406030204" pitchFamily="18" charset="0"/>
                                </a:rPr>
                              </m:ctrlPr>
                            </m:fPr>
                            <m:num>
                              <m:r>
                                <m:rPr>
                                  <m:sty m:val="p"/>
                                </m:rPr>
                                <a:rPr lang="en-US" sz="1200" b="0" i="0" dirty="0" smtClean="0">
                                  <a:solidFill>
                                    <a:srgbClr val="FF0000"/>
                                  </a:solidFill>
                                  <a:latin typeface="Cambria Math" panose="02040503050406030204" pitchFamily="18" charset="0"/>
                                </a:rPr>
                                <m:t>N</m:t>
                              </m:r>
                              <m:sSup>
                                <m:sSupPr>
                                  <m:ctrlPr>
                                    <a:rPr lang="en-US" sz="1200" b="0" i="1" dirty="0" smtClean="0">
                                      <a:solidFill>
                                        <a:srgbClr val="FF0000"/>
                                      </a:solidFill>
                                      <a:latin typeface="Cambria Math" panose="02040503050406030204" pitchFamily="18" charset="0"/>
                                    </a:rPr>
                                  </m:ctrlPr>
                                </m:sSupPr>
                                <m:e>
                                  <m:r>
                                    <m:rPr>
                                      <m:sty m:val="p"/>
                                    </m:rPr>
                                    <a:rPr lang="en-US" sz="1200" b="0" i="0" dirty="0" smtClean="0">
                                      <a:solidFill>
                                        <a:srgbClr val="FF0000"/>
                                      </a:solidFill>
                                      <a:latin typeface="Cambria Math" panose="02040503050406030204" pitchFamily="18" charset="0"/>
                                    </a:rPr>
                                    <m:t>m</m:t>
                                  </m:r>
                                </m:e>
                                <m:sup>
                                  <m:r>
                                    <a:rPr lang="en-US" sz="1200" b="0" i="0" dirty="0" smtClean="0">
                                      <a:solidFill>
                                        <a:srgbClr val="FF0000"/>
                                      </a:solidFill>
                                      <a:latin typeface="Cambria Math" panose="02040503050406030204" pitchFamily="18" charset="0"/>
                                    </a:rPr>
                                    <m:t>2</m:t>
                                  </m:r>
                                </m:sup>
                              </m:sSup>
                            </m:num>
                            <m:den>
                              <m:sSup>
                                <m:sSupPr>
                                  <m:ctrlPr>
                                    <a:rPr lang="en-US" sz="1200" b="0" i="1" dirty="0" smtClean="0">
                                      <a:solidFill>
                                        <a:srgbClr val="FF0000"/>
                                      </a:solidFill>
                                      <a:latin typeface="Cambria Math" panose="02040503050406030204" pitchFamily="18" charset="0"/>
                                    </a:rPr>
                                  </m:ctrlPr>
                                </m:sSupPr>
                                <m:e>
                                  <m:r>
                                    <m:rPr>
                                      <m:sty m:val="p"/>
                                    </m:rPr>
                                    <a:rPr lang="en-US" sz="1200" b="0" i="0" dirty="0" smtClean="0">
                                      <a:solidFill>
                                        <a:srgbClr val="FF0000"/>
                                      </a:solidFill>
                                      <a:latin typeface="Cambria Math" panose="02040503050406030204" pitchFamily="18" charset="0"/>
                                    </a:rPr>
                                    <m:t>C</m:t>
                                  </m:r>
                                </m:e>
                                <m:sup>
                                  <m:r>
                                    <a:rPr lang="en-US" sz="1200" b="0" i="0" dirty="0" smtClean="0">
                                      <a:solidFill>
                                        <a:srgbClr val="FF0000"/>
                                      </a:solidFill>
                                      <a:latin typeface="Cambria Math" panose="02040503050406030204" pitchFamily="18" charset="0"/>
                                    </a:rPr>
                                    <m:t>2</m:t>
                                  </m:r>
                                </m:sup>
                              </m:sSup>
                            </m:den>
                          </m:f>
                        </m:e>
                      </m:d>
                      <m:f>
                        <m:fPr>
                          <m:ctrlPr>
                            <a:rPr lang="en-US" sz="1200" b="0" i="1" smtClean="0">
                              <a:solidFill>
                                <a:srgbClr val="FF0000"/>
                              </a:solidFill>
                              <a:latin typeface="Cambria Math" panose="02040503050406030204" pitchFamily="18" charset="0"/>
                            </a:rPr>
                          </m:ctrlPr>
                        </m:fPr>
                        <m:num>
                          <m:d>
                            <m:dPr>
                              <m:begChr m:val="|"/>
                              <m:endChr m:val="|"/>
                              <m:ctrlPr>
                                <a:rPr lang="en-US" sz="1200" b="0" i="1" smtClean="0">
                                  <a:solidFill>
                                    <a:srgbClr val="FF0000"/>
                                  </a:solidFill>
                                  <a:latin typeface="Cambria Math" panose="02040503050406030204" pitchFamily="18" charset="0"/>
                                </a:rPr>
                              </m:ctrlPr>
                            </m:dPr>
                            <m:e>
                              <m:r>
                                <a:rPr lang="en-US" sz="1200" b="0" i="0" smtClean="0">
                                  <a:solidFill>
                                    <a:srgbClr val="FF0000"/>
                                  </a:solidFill>
                                  <a:latin typeface="Cambria Math" panose="02040503050406030204" pitchFamily="18" charset="0"/>
                                </a:rPr>
                                <m:t>10×</m:t>
                              </m:r>
                              <m:sSup>
                                <m:sSupPr>
                                  <m:ctrlPr>
                                    <a:rPr lang="en-US" sz="1200" b="0" i="1" smtClean="0">
                                      <a:solidFill>
                                        <a:srgbClr val="FF0000"/>
                                      </a:solidFill>
                                      <a:latin typeface="Cambria Math" panose="02040503050406030204" pitchFamily="18" charset="0"/>
                                    </a:rPr>
                                  </m:ctrlPr>
                                </m:sSupPr>
                                <m:e>
                                  <m:r>
                                    <a:rPr lang="en-US" sz="1200" b="0" i="0" smtClean="0">
                                      <a:solidFill>
                                        <a:srgbClr val="FF0000"/>
                                      </a:solidFill>
                                      <a:latin typeface="Cambria Math" panose="02040503050406030204" pitchFamily="18" charset="0"/>
                                    </a:rPr>
                                    <m:t>10</m:t>
                                  </m:r>
                                </m:e>
                                <m:sup>
                                  <m:r>
                                    <a:rPr lang="en-US" sz="1200" b="0" i="0" smtClean="0">
                                      <a:solidFill>
                                        <a:srgbClr val="FF0000"/>
                                      </a:solidFill>
                                      <a:latin typeface="Cambria Math" panose="02040503050406030204" pitchFamily="18" charset="0"/>
                                    </a:rPr>
                                    <m:t>−9</m:t>
                                  </m:r>
                                </m:sup>
                              </m:sSup>
                              <m:r>
                                <m:rPr>
                                  <m:sty m:val="p"/>
                                </m:rPr>
                                <a:rPr lang="en-US" sz="1200" b="0" i="0" smtClean="0">
                                  <a:solidFill>
                                    <a:srgbClr val="FF0000"/>
                                  </a:solidFill>
                                  <a:latin typeface="Cambria Math" panose="02040503050406030204" pitchFamily="18" charset="0"/>
                                </a:rPr>
                                <m:t>C</m:t>
                              </m:r>
                            </m:e>
                          </m:d>
                          <m:r>
                            <a:rPr lang="en-US" sz="1200" b="0" i="0" smtClean="0">
                              <a:solidFill>
                                <a:srgbClr val="FF0000"/>
                              </a:solidFill>
                              <a:latin typeface="Cambria Math" panose="02040503050406030204" pitchFamily="18" charset="0"/>
                            </a:rPr>
                            <m:t>|1.0×</m:t>
                          </m:r>
                          <m:sSup>
                            <m:sSupPr>
                              <m:ctrlPr>
                                <a:rPr lang="en-US" sz="1200" b="0" i="1" smtClean="0">
                                  <a:solidFill>
                                    <a:srgbClr val="FF0000"/>
                                  </a:solidFill>
                                  <a:latin typeface="Cambria Math" panose="02040503050406030204" pitchFamily="18" charset="0"/>
                                </a:rPr>
                              </m:ctrlPr>
                            </m:sSupPr>
                            <m:e>
                              <m:r>
                                <a:rPr lang="en-US" sz="1200" b="0" i="0" smtClean="0">
                                  <a:solidFill>
                                    <a:srgbClr val="FF0000"/>
                                  </a:solidFill>
                                  <a:latin typeface="Cambria Math" panose="02040503050406030204" pitchFamily="18" charset="0"/>
                                </a:rPr>
                                <m:t>10</m:t>
                              </m:r>
                            </m:e>
                            <m:sup>
                              <m:r>
                                <a:rPr lang="en-US" sz="1200" b="0" i="0" smtClean="0">
                                  <a:solidFill>
                                    <a:srgbClr val="FF0000"/>
                                  </a:solidFill>
                                  <a:latin typeface="Cambria Math" panose="02040503050406030204" pitchFamily="18" charset="0"/>
                                </a:rPr>
                                <m:t>−9</m:t>
                              </m:r>
                            </m:sup>
                          </m:sSup>
                          <m:r>
                            <m:rPr>
                              <m:sty m:val="p"/>
                            </m:rPr>
                            <a:rPr lang="en-US" sz="1200" b="0" i="0" smtClean="0">
                              <a:solidFill>
                                <a:srgbClr val="FF0000"/>
                              </a:solidFill>
                              <a:latin typeface="Cambria Math" panose="02040503050406030204" pitchFamily="18" charset="0"/>
                            </a:rPr>
                            <m:t>C</m:t>
                          </m:r>
                          <m:r>
                            <a:rPr lang="en-US" sz="1200" b="0" i="0" smtClean="0">
                              <a:solidFill>
                                <a:srgbClr val="FF0000"/>
                              </a:solidFill>
                              <a:latin typeface="Cambria Math" panose="02040503050406030204" pitchFamily="18" charset="0"/>
                            </a:rPr>
                            <m:t>|</m:t>
                          </m:r>
                        </m:num>
                        <m:den>
                          <m:sSup>
                            <m:sSupPr>
                              <m:ctrlPr>
                                <a:rPr lang="en-US" sz="1200" b="0" i="1" smtClean="0">
                                  <a:solidFill>
                                    <a:srgbClr val="FF0000"/>
                                  </a:solidFill>
                                  <a:latin typeface="Cambria Math" panose="02040503050406030204" pitchFamily="18" charset="0"/>
                                </a:rPr>
                              </m:ctrlPr>
                            </m:sSupPr>
                            <m:e>
                              <m:d>
                                <m:dPr>
                                  <m:ctrlPr>
                                    <a:rPr lang="en-US" sz="1200" b="0" i="1" smtClean="0">
                                      <a:solidFill>
                                        <a:srgbClr val="FF0000"/>
                                      </a:solidFill>
                                      <a:latin typeface="Cambria Math" panose="02040503050406030204" pitchFamily="18" charset="0"/>
                                    </a:rPr>
                                  </m:ctrlPr>
                                </m:dPr>
                                <m:e>
                                  <m:r>
                                    <a:rPr lang="en-US" sz="1200" b="0" i="0" smtClean="0">
                                      <a:solidFill>
                                        <a:srgbClr val="FF0000"/>
                                      </a:solidFill>
                                      <a:latin typeface="Cambria Math" panose="02040503050406030204" pitchFamily="18" charset="0"/>
                                    </a:rPr>
                                    <m:t>0.010</m:t>
                                  </m:r>
                                  <m:r>
                                    <m:rPr>
                                      <m:sty m:val="p"/>
                                    </m:rPr>
                                    <a:rPr lang="en-US" sz="1200" b="0" i="0" smtClean="0">
                                      <a:solidFill>
                                        <a:srgbClr val="FF0000"/>
                                      </a:solidFill>
                                      <a:latin typeface="Cambria Math" panose="02040503050406030204" pitchFamily="18" charset="0"/>
                                    </a:rPr>
                                    <m:t>m</m:t>
                                  </m:r>
                                </m:e>
                              </m:d>
                            </m:e>
                            <m:sup>
                              <m:r>
                                <a:rPr lang="en-US" sz="1200" b="0" i="0" smtClean="0">
                                  <a:solidFill>
                                    <a:srgbClr val="FF0000"/>
                                  </a:solidFill>
                                  <a:latin typeface="Cambria Math" panose="02040503050406030204" pitchFamily="18" charset="0"/>
                                </a:rPr>
                                <m:t>2</m:t>
                              </m:r>
                            </m:sup>
                          </m:sSup>
                        </m:den>
                      </m:f>
                      <m:r>
                        <a:rPr lang="en-US" sz="1200" b="0" i="0" smtClean="0">
                          <a:solidFill>
                            <a:srgbClr val="FF0000"/>
                          </a:solidFill>
                          <a:latin typeface="Cambria Math" panose="02040503050406030204" pitchFamily="18" charset="0"/>
                        </a:rPr>
                        <m:t>=9.0</m:t>
                      </m:r>
                      <m:r>
                        <a:rPr lang="en-US" sz="1200" b="0" i="1" smtClean="0">
                          <a:solidFill>
                            <a:srgbClr val="FF0000"/>
                          </a:solidFill>
                          <a:latin typeface="Cambria Math" panose="02040503050406030204" pitchFamily="18" charset="0"/>
                        </a:rPr>
                        <m:t>×</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10</m:t>
                          </m:r>
                        </m:e>
                        <m:sup>
                          <m:r>
                            <a:rPr lang="en-US" sz="1200" b="0" i="1" smtClean="0">
                              <a:solidFill>
                                <a:srgbClr val="FF0000"/>
                              </a:solidFill>
                              <a:latin typeface="Cambria Math" panose="02040503050406030204" pitchFamily="18" charset="0"/>
                            </a:rPr>
                            <m:t>−4</m:t>
                          </m:r>
                        </m:sup>
                      </m:sSup>
                      <m:r>
                        <m:rPr>
                          <m:sty m:val="p"/>
                        </m:rPr>
                        <a:rPr lang="en-US" sz="1200" b="0" i="0" smtClean="0">
                          <a:solidFill>
                            <a:srgbClr val="FF0000"/>
                          </a:solidFill>
                          <a:latin typeface="Cambria Math" panose="02040503050406030204" pitchFamily="18" charset="0"/>
                        </a:rPr>
                        <m:t>N</m:t>
                      </m:r>
                    </m:oMath>
                  </m:oMathPara>
                </a14:m>
                <a:endParaRPr lang="en-US" sz="1200" dirty="0">
                  <a:solidFill>
                    <a:srgbClr val="FF0000"/>
                  </a:solidFill>
                </a:endParaRPr>
              </a:p>
              <a:p>
                <a:endParaRPr lang="en-US" sz="1200" dirty="0"/>
              </a:p>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𝐹</m:t>
                              </m:r>
                            </m:e>
                          </m:acc>
                        </m:e>
                        <m:sub>
                          <m:r>
                            <m:rPr>
                              <m:sty m:val="p"/>
                            </m:rPr>
                            <a:rPr lang="en-US" sz="1600" b="0" i="0" smtClean="0">
                              <a:latin typeface="Cambria Math" panose="02040503050406030204" pitchFamily="18" charset="0"/>
                            </a:rPr>
                            <m:t>net</m:t>
                          </m:r>
                        </m:sub>
                      </m:sSub>
                      <m:r>
                        <a:rPr lang="en-US" sz="1600" b="0" i="1" smtClean="0">
                          <a:latin typeface="Cambria Math" panose="02040503050406030204" pitchFamily="18" charset="0"/>
                        </a:rPr>
                        <m:t>=</m:t>
                      </m:r>
                      <m:r>
                        <a:rPr lang="en-US" sz="1600" b="0" i="1" smtClean="0">
                          <a:solidFill>
                            <a:srgbClr val="00B050"/>
                          </a:solidFill>
                          <a:latin typeface="Cambria Math" panose="02040503050406030204" pitchFamily="18" charset="0"/>
                        </a:rPr>
                        <m:t>+</m:t>
                      </m:r>
                      <m:sSub>
                        <m:sSubPr>
                          <m:ctrlPr>
                            <a:rPr lang="en-US" sz="1600" b="0" i="1" smtClean="0">
                              <a:solidFill>
                                <a:srgbClr val="00B050"/>
                              </a:solidFill>
                              <a:latin typeface="Cambria Math" panose="02040503050406030204" pitchFamily="18" charset="0"/>
                            </a:rPr>
                          </m:ctrlPr>
                        </m:sSubPr>
                        <m:e>
                          <m:acc>
                            <m:accPr>
                              <m:chr m:val="⃗"/>
                              <m:ctrlPr>
                                <a:rPr lang="en-US" sz="1600" b="0" i="1" smtClean="0">
                                  <a:solidFill>
                                    <a:srgbClr val="00B050"/>
                                  </a:solidFill>
                                  <a:latin typeface="Cambria Math" panose="02040503050406030204" pitchFamily="18" charset="0"/>
                                </a:rPr>
                              </m:ctrlPr>
                            </m:accPr>
                            <m:e>
                              <m:r>
                                <m:rPr>
                                  <m:sty m:val="p"/>
                                </m:rPr>
                                <a:rPr lang="en-US" sz="1600" b="0" i="0" smtClean="0">
                                  <a:solidFill>
                                    <a:srgbClr val="00B050"/>
                                  </a:solidFill>
                                  <a:latin typeface="Cambria Math" panose="02040503050406030204" pitchFamily="18" charset="0"/>
                                </a:rPr>
                                <m:t>F</m:t>
                              </m:r>
                            </m:e>
                          </m:acc>
                        </m:e>
                        <m:sub>
                          <m:r>
                            <a:rPr lang="en-US" sz="1600" b="0" i="0" smtClean="0">
                              <a:solidFill>
                                <a:srgbClr val="00B050"/>
                              </a:solidFill>
                              <a:latin typeface="Cambria Math" panose="02040503050406030204" pitchFamily="18" charset="0"/>
                            </a:rPr>
                            <m:t>1 </m:t>
                          </m:r>
                          <m:r>
                            <m:rPr>
                              <m:sty m:val="p"/>
                            </m:rPr>
                            <a:rPr lang="en-US" sz="1600" b="0" i="0" smtClean="0">
                              <a:solidFill>
                                <a:srgbClr val="00B050"/>
                              </a:solidFill>
                              <a:latin typeface="Cambria Math" panose="02040503050406030204" pitchFamily="18" charset="0"/>
                            </a:rPr>
                            <m:t>on</m:t>
                          </m:r>
                          <m:r>
                            <a:rPr lang="en-US" sz="1600" b="0" i="0" smtClean="0">
                              <a:solidFill>
                                <a:srgbClr val="00B050"/>
                              </a:solidFill>
                              <a:latin typeface="Cambria Math" panose="02040503050406030204" pitchFamily="18" charset="0"/>
                            </a:rPr>
                            <m:t> 3</m:t>
                          </m:r>
                        </m:sub>
                      </m:sSub>
                      <m:r>
                        <a:rPr lang="en-US" sz="1600" b="0" i="0" smtClean="0">
                          <a:solidFill>
                            <a:srgbClr val="FF0000"/>
                          </a:solidFill>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m:rPr>
                                  <m:sty m:val="p"/>
                                </m:rPr>
                                <a:rPr lang="en-US" sz="1600" b="0" i="0" smtClean="0">
                                  <a:solidFill>
                                    <a:srgbClr val="FF0000"/>
                                  </a:solidFill>
                                  <a:latin typeface="Cambria Math" panose="02040503050406030204" pitchFamily="18" charset="0"/>
                                </a:rPr>
                                <m:t>F</m:t>
                              </m:r>
                            </m:e>
                          </m:acc>
                        </m:e>
                        <m:sub>
                          <m:r>
                            <a:rPr lang="en-US" sz="1600" b="0" i="0" smtClean="0">
                              <a:solidFill>
                                <a:srgbClr val="FF0000"/>
                              </a:solidFill>
                              <a:latin typeface="Cambria Math" panose="02040503050406030204" pitchFamily="18" charset="0"/>
                            </a:rPr>
                            <m:t>2 </m:t>
                          </m:r>
                          <m:r>
                            <m:rPr>
                              <m:sty m:val="p"/>
                            </m:rPr>
                            <a:rPr lang="en-US" sz="1600" b="0" i="0" smtClean="0">
                              <a:solidFill>
                                <a:srgbClr val="FF0000"/>
                              </a:solidFill>
                              <a:latin typeface="Cambria Math" panose="02040503050406030204" pitchFamily="18" charset="0"/>
                            </a:rPr>
                            <m:t>on</m:t>
                          </m:r>
                          <m:r>
                            <a:rPr lang="en-US" sz="1600" b="0" i="0" smtClean="0">
                              <a:solidFill>
                                <a:srgbClr val="FF0000"/>
                              </a:solidFill>
                              <a:latin typeface="Cambria Math" panose="02040503050406030204" pitchFamily="18" charset="0"/>
                            </a:rPr>
                            <m:t> 3</m:t>
                          </m:r>
                        </m:sub>
                      </m:sSub>
                      <m:r>
                        <a:rPr lang="en-US" sz="1600" b="0" i="1" smtClean="0">
                          <a:latin typeface="Cambria Math" panose="02040503050406030204" pitchFamily="18" charset="0"/>
                        </a:rPr>
                        <m:t>=</m:t>
                      </m:r>
                      <m:r>
                        <a:rPr lang="en-US" sz="1600" b="0" i="1" smtClean="0">
                          <a:solidFill>
                            <a:srgbClr val="00B050"/>
                          </a:solidFill>
                          <a:latin typeface="Cambria Math" panose="02040503050406030204" pitchFamily="18" charset="0"/>
                        </a:rPr>
                        <m:t>+</m:t>
                      </m:r>
                      <m:d>
                        <m:dPr>
                          <m:ctrlPr>
                            <a:rPr lang="en-US" sz="1600" b="0" i="1" smtClean="0">
                              <a:solidFill>
                                <a:srgbClr val="00B050"/>
                              </a:solidFill>
                              <a:latin typeface="Cambria Math" panose="02040503050406030204" pitchFamily="18" charset="0"/>
                            </a:rPr>
                          </m:ctrlPr>
                        </m:dPr>
                        <m:e>
                          <m:r>
                            <a:rPr lang="en-US" sz="1600" b="0" i="1" smtClean="0">
                              <a:solidFill>
                                <a:srgbClr val="00B050"/>
                              </a:solidFill>
                              <a:latin typeface="Cambria Math" panose="02040503050406030204" pitchFamily="18" charset="0"/>
                            </a:rPr>
                            <m:t>9.0×</m:t>
                          </m:r>
                          <m:sSup>
                            <m:sSupPr>
                              <m:ctrlPr>
                                <a:rPr lang="en-US" sz="1600" b="0" i="1" smtClean="0">
                                  <a:solidFill>
                                    <a:srgbClr val="00B050"/>
                                  </a:solidFill>
                                  <a:latin typeface="Cambria Math" panose="02040503050406030204" pitchFamily="18" charset="0"/>
                                </a:rPr>
                              </m:ctrlPr>
                            </m:sSupPr>
                            <m:e>
                              <m:r>
                                <a:rPr lang="en-US" sz="1600" b="0" i="1" smtClean="0">
                                  <a:solidFill>
                                    <a:srgbClr val="00B050"/>
                                  </a:solidFill>
                                  <a:latin typeface="Cambria Math" panose="02040503050406030204" pitchFamily="18" charset="0"/>
                                </a:rPr>
                                <m:t>10</m:t>
                              </m:r>
                            </m:e>
                            <m:sup>
                              <m:r>
                                <a:rPr lang="en-US" sz="1600" b="0" i="1" smtClean="0">
                                  <a:solidFill>
                                    <a:srgbClr val="00B050"/>
                                  </a:solidFill>
                                  <a:latin typeface="Cambria Math" panose="02040503050406030204" pitchFamily="18" charset="0"/>
                                </a:rPr>
                                <m:t>−4</m:t>
                              </m:r>
                            </m:sup>
                          </m:sSup>
                          <m:r>
                            <m:rPr>
                              <m:sty m:val="p"/>
                            </m:rPr>
                            <a:rPr lang="en-US" sz="1600" b="0" i="0" smtClean="0">
                              <a:solidFill>
                                <a:srgbClr val="00B050"/>
                              </a:solidFill>
                              <a:latin typeface="Cambria Math" panose="02040503050406030204" pitchFamily="18" charset="0"/>
                            </a:rPr>
                            <m:t>N</m:t>
                          </m:r>
                        </m:e>
                      </m:d>
                      <m:r>
                        <a:rPr lang="en-US" sz="1600" b="0" i="1" smtClean="0">
                          <a:solidFill>
                            <a:srgbClr val="FF0000"/>
                          </a:solidFill>
                          <a:latin typeface="Cambria Math" panose="02040503050406030204" pitchFamily="18" charset="0"/>
                        </a:rPr>
                        <m:t>−</m:t>
                      </m:r>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9.0×</m:t>
                          </m:r>
                          <m:sSup>
                            <m:sSupPr>
                              <m:ctrlPr>
                                <a:rPr lang="en-US" sz="1600" b="0" i="1" smtClean="0">
                                  <a:solidFill>
                                    <a:srgbClr val="FF0000"/>
                                  </a:solidFill>
                                  <a:latin typeface="Cambria Math" panose="02040503050406030204" pitchFamily="18" charset="0"/>
                                </a:rPr>
                              </m:ctrlPr>
                            </m:sSupPr>
                            <m:e>
                              <m:r>
                                <a:rPr lang="en-US" sz="1600" b="0" i="1" smtClean="0">
                                  <a:solidFill>
                                    <a:srgbClr val="FF0000"/>
                                  </a:solidFill>
                                  <a:latin typeface="Cambria Math" panose="02040503050406030204" pitchFamily="18" charset="0"/>
                                </a:rPr>
                                <m:t>10</m:t>
                              </m:r>
                            </m:e>
                            <m:sup>
                              <m:r>
                                <a:rPr lang="en-US" sz="1600" b="0" i="1" smtClean="0">
                                  <a:solidFill>
                                    <a:srgbClr val="FF0000"/>
                                  </a:solidFill>
                                  <a:latin typeface="Cambria Math" panose="02040503050406030204" pitchFamily="18" charset="0"/>
                                </a:rPr>
                                <m:t>−4</m:t>
                              </m:r>
                            </m:sup>
                          </m:sSup>
                          <m:r>
                            <m:rPr>
                              <m:sty m:val="p"/>
                            </m:rPr>
                            <a:rPr lang="en-US" sz="1600" b="0" i="0" smtClean="0">
                              <a:solidFill>
                                <a:srgbClr val="FF0000"/>
                              </a:solidFill>
                              <a:latin typeface="Cambria Math" panose="02040503050406030204" pitchFamily="18" charset="0"/>
                            </a:rPr>
                            <m:t>N</m:t>
                          </m:r>
                        </m:e>
                      </m:d>
                      <m:r>
                        <a:rPr lang="en-US" sz="1600" b="0" i="1" smtClean="0">
                          <a:solidFill>
                            <a:schemeClr val="tx1"/>
                          </a:solidFill>
                          <a:latin typeface="Cambria Math" panose="02040503050406030204" pitchFamily="18" charset="0"/>
                        </a:rPr>
                        <m:t>=</m:t>
                      </m:r>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0</m:t>
                          </m:r>
                        </m:e>
                      </m:acc>
                    </m:oMath>
                  </m:oMathPara>
                </a14:m>
                <a:endParaRPr lang="en-US" dirty="0"/>
              </a:p>
            </p:txBody>
          </p:sp>
        </mc:Choice>
        <mc:Fallback xmlns="">
          <p:sp>
            <p:nvSpPr>
              <p:cNvPr id="5" name="TextBox 4">
                <a:extLst>
                  <a:ext uri="{FF2B5EF4-FFF2-40B4-BE49-F238E27FC236}">
                    <a16:creationId xmlns:a16="http://schemas.microsoft.com/office/drawing/2014/main" id="{763A983D-4430-B4EC-72EF-88053804F599}"/>
                  </a:ext>
                </a:extLst>
              </p:cNvPr>
              <p:cNvSpPr txBox="1">
                <a:spLocks noRot="1" noChangeAspect="1" noMove="1" noResize="1" noEditPoints="1" noAdjustHandles="1" noChangeArrowheads="1" noChangeShapeType="1" noTextEdit="1"/>
              </p:cNvSpPr>
              <p:nvPr/>
            </p:nvSpPr>
            <p:spPr>
              <a:xfrm>
                <a:off x="6114288" y="3429000"/>
                <a:ext cx="5900928" cy="2120324"/>
              </a:xfrm>
              <a:prstGeom prst="rect">
                <a:avLst/>
              </a:prstGeom>
              <a:blipFill>
                <a:blip r:embed="rId4"/>
                <a:stretch>
                  <a:fillRect l="-1288" t="-5389" b="-41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45BA668-1803-B68D-2FC0-C8B043F9E5CF}"/>
              </a:ext>
            </a:extLst>
          </p:cNvPr>
          <p:cNvSpPr txBox="1"/>
          <p:nvPr/>
        </p:nvSpPr>
        <p:spPr>
          <a:xfrm>
            <a:off x="711200" y="6152686"/>
            <a:ext cx="10769600" cy="646331"/>
          </a:xfrm>
          <a:prstGeom prst="rect">
            <a:avLst/>
          </a:prstGeom>
          <a:noFill/>
        </p:spPr>
        <p:txBody>
          <a:bodyPr wrap="square" rtlCol="0">
            <a:spAutoFit/>
          </a:bodyPr>
          <a:lstStyle/>
          <a:p>
            <a:r>
              <a:rPr lang="en-US" dirty="0"/>
              <a:t>Notice that the geometry of the problem causes the two large charges to apply equal forces to the smaller one (same distance apart). Additionally, the geometry causes them to be in opposing directions, cancelling them out.</a:t>
            </a:r>
          </a:p>
        </p:txBody>
      </p:sp>
    </p:spTree>
    <p:extLst>
      <p:ext uri="{BB962C8B-B14F-4D97-AF65-F5344CB8AC3E}">
        <p14:creationId xmlns:p14="http://schemas.microsoft.com/office/powerpoint/2010/main" val="415262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C6CC9-9707-EC5F-DD0D-81F502BD5B7C}"/>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E5A4A-48F8-4164-E509-88505E206E0F}"/>
                  </a:ext>
                </a:extLst>
              </p:cNvPr>
              <p:cNvSpPr>
                <a:spLocks noGrp="1"/>
              </p:cNvSpPr>
              <p:nvPr>
                <p:ph idx="1"/>
              </p:nvPr>
            </p:nvSpPr>
            <p:spPr/>
            <p:txBody>
              <a:bodyPr>
                <a:normAutofit/>
              </a:bodyPr>
              <a:lstStyle/>
              <a:p>
                <a:pPr marL="0" indent="0">
                  <a:buNone/>
                </a:pPr>
                <a:r>
                  <a:rPr lang="en-US" sz="2400" dirty="0"/>
                  <a:t>Three charged particles with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=−50</m:t>
                    </m:r>
                    <m:r>
                      <m:rPr>
                        <m:sty m:val="p"/>
                      </m:rPr>
                      <a:rPr lang="en-US" sz="2400" b="0" i="0" smtClean="0">
                        <a:latin typeface="Cambria Math" panose="02040503050406030204" pitchFamily="18" charset="0"/>
                      </a:rPr>
                      <m:t>nC</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b="0" i="1" smtClean="0">
                        <a:latin typeface="Cambria Math" panose="02040503050406030204" pitchFamily="18" charset="0"/>
                      </a:rPr>
                      <m:t>+</m:t>
                    </m:r>
                    <m:r>
                      <a:rPr lang="en-US" sz="2400" i="1">
                        <a:latin typeface="Cambria Math" panose="02040503050406030204" pitchFamily="18" charset="0"/>
                      </a:rPr>
                      <m:t>50</m:t>
                    </m:r>
                    <m:r>
                      <m:rPr>
                        <m:sty m:val="p"/>
                      </m:rPr>
                      <a:rPr lang="en-US" sz="2400" i="0">
                        <a:latin typeface="Cambria Math" panose="02040503050406030204" pitchFamily="18" charset="0"/>
                      </a:rPr>
                      <m:t>nC</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b="0" i="1" smtClean="0">
                            <a:latin typeface="Cambria Math" panose="02040503050406030204" pitchFamily="18" charset="0"/>
                          </a:rPr>
                          <m:t>3</m:t>
                        </m:r>
                      </m:sub>
                    </m:sSub>
                    <m:r>
                      <a:rPr lang="en-US" sz="2400" i="1">
                        <a:latin typeface="Cambria Math" panose="02040503050406030204" pitchFamily="18" charset="0"/>
                      </a:rPr>
                      <m:t>=</m:t>
                    </m:r>
                    <m:r>
                      <a:rPr lang="en-US" sz="2400" b="0" i="1" smtClean="0">
                        <a:latin typeface="Cambria Math" panose="02040503050406030204" pitchFamily="18" charset="0"/>
                      </a:rPr>
                      <m:t>+3</m:t>
                    </m:r>
                    <m:r>
                      <a:rPr lang="en-US" sz="2400" i="1">
                        <a:latin typeface="Cambria Math" panose="02040503050406030204" pitchFamily="18" charset="0"/>
                      </a:rPr>
                      <m:t>0</m:t>
                    </m:r>
                    <m:r>
                      <m:rPr>
                        <m:sty m:val="p"/>
                      </m:rPr>
                      <a:rPr lang="en-US" sz="2400" i="0">
                        <a:latin typeface="Cambria Math" panose="02040503050406030204" pitchFamily="18" charset="0"/>
                      </a:rPr>
                      <m:t>nC</m:t>
                    </m:r>
                  </m:oMath>
                </a14:m>
                <a:r>
                  <a:rPr lang="en-US" sz="2400" dirty="0"/>
                  <a:t> are placed on the corners of a </a:t>
                </a:r>
                <a14:m>
                  <m:oMath xmlns:m="http://schemas.openxmlformats.org/officeDocument/2006/math">
                    <m:r>
                      <a:rPr lang="en-US" sz="2400" b="0" i="0" smtClean="0">
                        <a:latin typeface="Cambria Math" panose="02040503050406030204" pitchFamily="18" charset="0"/>
                      </a:rPr>
                      <m:t>5.0</m:t>
                    </m:r>
                    <m:r>
                      <m:rPr>
                        <m:sty m:val="p"/>
                      </m:rPr>
                      <a:rPr lang="en-US" sz="2400" b="0" i="0" smtClean="0">
                        <a:latin typeface="Cambria Math" panose="02040503050406030204" pitchFamily="18" charset="0"/>
                      </a:rPr>
                      <m:t>cm</m:t>
                    </m:r>
                    <m:r>
                      <a:rPr lang="en-US" sz="2400" b="0" i="0" smtClean="0">
                        <a:latin typeface="Cambria Math" panose="02040503050406030204" pitchFamily="18" charset="0"/>
                      </a:rPr>
                      <m:t> ×10.0</m:t>
                    </m:r>
                    <m:r>
                      <m:rPr>
                        <m:sty m:val="p"/>
                      </m:rPr>
                      <a:rPr lang="en-US" sz="2400" b="0" i="0" smtClean="0">
                        <a:latin typeface="Cambria Math" panose="02040503050406030204" pitchFamily="18" charset="0"/>
                      </a:rPr>
                      <m:t>cm</m:t>
                    </m:r>
                  </m:oMath>
                </a14:m>
                <a:r>
                  <a:rPr lang="en-US" sz="2400" dirty="0"/>
                  <a:t> rectangle. What is the net force on charge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3</m:t>
                        </m:r>
                      </m:sub>
                    </m:sSub>
                  </m:oMath>
                </a14:m>
                <a:r>
                  <a:rPr lang="en-US" sz="2400" dirty="0"/>
                  <a:t>?</a:t>
                </a:r>
              </a:p>
            </p:txBody>
          </p:sp>
        </mc:Choice>
        <mc:Fallback xmlns="">
          <p:sp>
            <p:nvSpPr>
              <p:cNvPr id="3" name="Content Placeholder 2">
                <a:extLst>
                  <a:ext uri="{FF2B5EF4-FFF2-40B4-BE49-F238E27FC236}">
                    <a16:creationId xmlns:a16="http://schemas.microsoft.com/office/drawing/2014/main" id="{E90E5A4A-48F8-4164-E509-88505E206E0F}"/>
                  </a:ext>
                </a:extLst>
              </p:cNvPr>
              <p:cNvSpPr>
                <a:spLocks noGrp="1" noRot="1" noChangeAspect="1" noMove="1" noResize="1" noEditPoints="1" noAdjustHandles="1" noChangeArrowheads="1" noChangeShapeType="1" noTextEdit="1"/>
              </p:cNvSpPr>
              <p:nvPr>
                <p:ph idx="1"/>
              </p:nvPr>
            </p:nvSpPr>
            <p:spPr>
              <a:blipFill>
                <a:blip r:embed="rId2"/>
                <a:stretch>
                  <a:fillRect l="-965" t="-203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9C0A08A-0196-C3F7-09EE-21E30C726547}"/>
              </a:ext>
            </a:extLst>
          </p:cNvPr>
          <p:cNvPicPr>
            <a:picLocks noChangeAspect="1"/>
          </p:cNvPicPr>
          <p:nvPr/>
        </p:nvPicPr>
        <p:blipFill>
          <a:blip r:embed="rId3"/>
          <a:stretch>
            <a:fillRect/>
          </a:stretch>
        </p:blipFill>
        <p:spPr>
          <a:xfrm>
            <a:off x="838200" y="3734248"/>
            <a:ext cx="2372047" cy="3123752"/>
          </a:xfrm>
          <a:prstGeom prst="rect">
            <a:avLst/>
          </a:prstGeom>
        </p:spPr>
      </p:pic>
      <p:pic>
        <p:nvPicPr>
          <p:cNvPr id="5" name="Picture 4">
            <a:extLst>
              <a:ext uri="{FF2B5EF4-FFF2-40B4-BE49-F238E27FC236}">
                <a16:creationId xmlns:a16="http://schemas.microsoft.com/office/drawing/2014/main" id="{19E284A1-BFE8-DB5D-EE40-DDEDC942B66A}"/>
              </a:ext>
            </a:extLst>
          </p:cNvPr>
          <p:cNvPicPr>
            <a:picLocks noChangeAspect="1"/>
          </p:cNvPicPr>
          <p:nvPr/>
        </p:nvPicPr>
        <p:blipFill>
          <a:blip r:embed="rId4"/>
          <a:stretch>
            <a:fillRect/>
          </a:stretch>
        </p:blipFill>
        <p:spPr>
          <a:xfrm>
            <a:off x="4842198" y="2874991"/>
            <a:ext cx="3524250" cy="3982561"/>
          </a:xfrm>
          <a:prstGeom prst="rect">
            <a:avLst/>
          </a:prstGeom>
        </p:spPr>
      </p:pic>
      <p:sp>
        <p:nvSpPr>
          <p:cNvPr id="7" name="Right Arrow 6">
            <a:extLst>
              <a:ext uri="{FF2B5EF4-FFF2-40B4-BE49-F238E27FC236}">
                <a16:creationId xmlns:a16="http://schemas.microsoft.com/office/drawing/2014/main" id="{FBE07F29-4B65-545B-BD17-AA7A29EE5D30}"/>
              </a:ext>
            </a:extLst>
          </p:cNvPr>
          <p:cNvSpPr/>
          <p:nvPr/>
        </p:nvSpPr>
        <p:spPr>
          <a:xfrm>
            <a:off x="3603948" y="5041900"/>
            <a:ext cx="1238250" cy="431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B4F2F99-49EF-6155-F32D-63B7C54EC37F}"/>
              </a:ext>
            </a:extLst>
          </p:cNvPr>
          <p:cNvPicPr>
            <a:picLocks noChangeAspect="1"/>
          </p:cNvPicPr>
          <p:nvPr/>
        </p:nvPicPr>
        <p:blipFill>
          <a:blip r:embed="rId5"/>
          <a:stretch>
            <a:fillRect/>
          </a:stretch>
        </p:blipFill>
        <p:spPr>
          <a:xfrm>
            <a:off x="10706100" y="3892774"/>
            <a:ext cx="1295400" cy="28067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AE4F383-18CF-A856-2DD0-E3F6F7DC80A6}"/>
                  </a:ext>
                </a:extLst>
              </p:cNvPr>
              <p:cNvSpPr txBox="1"/>
              <p:nvPr/>
            </p:nvSpPr>
            <p:spPr>
              <a:xfrm>
                <a:off x="8550402" y="3035307"/>
                <a:ext cx="2412916" cy="3206519"/>
              </a:xfrm>
              <a:prstGeom prst="rect">
                <a:avLst/>
              </a:prstGeom>
              <a:noFill/>
            </p:spPr>
            <p:txBody>
              <a:bodyPr wrap="square" rtlCol="0">
                <a:spAutoFit/>
              </a:bodyPr>
              <a:lstStyle/>
              <a:p>
                <a:r>
                  <a:rPr lang="en-US" dirty="0"/>
                  <a:t>Some notes:</a:t>
                </a:r>
              </a:p>
              <a:p>
                <a:endParaRPr lang="en-US"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oMath>
                  </m:oMathPara>
                </a14:m>
                <a:endParaRPr lang="en-US" dirty="0"/>
              </a:p>
              <a:p>
                <a:endParaRPr lang="en-US" dirty="0"/>
              </a:p>
              <a:p>
                <a:r>
                  <a:rPr lang="en-US" dirty="0"/>
                  <a:t>Notice how the components of these vectors make up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oMath>
                </a14:m>
                <a:r>
                  <a:rPr lang="en-US" dirty="0"/>
                  <a:t>.</a:t>
                </a:r>
              </a:p>
              <a:p>
                <a:endParaRPr lang="en-US" dirty="0"/>
              </a:p>
              <a:p>
                <a:r>
                  <a:rPr lang="en-US" dirty="0"/>
                  <a:t>There are also </a:t>
                </a:r>
                <a:r>
                  <a:rPr lang="en-US" i="1" dirty="0"/>
                  <a:t>two</a:t>
                </a:r>
                <a:r>
                  <a:rPr lang="en-US" dirty="0"/>
                  <a:t> angles that must be considered: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a:rPr lang="en-US" b="0" i="1" smtClean="0">
                        <a:latin typeface="Cambria Math" panose="02040503050406030204" pitchFamily="18" charset="0"/>
                      </a:rPr>
                      <m:t>𝜙</m:t>
                    </m:r>
                  </m:oMath>
                </a14:m>
                <a:r>
                  <a:rPr lang="en-US" dirty="0"/>
                  <a:t>.</a:t>
                </a:r>
              </a:p>
            </p:txBody>
          </p:sp>
        </mc:Choice>
        <mc:Fallback xmlns="">
          <p:sp>
            <p:nvSpPr>
              <p:cNvPr id="9" name="TextBox 8">
                <a:extLst>
                  <a:ext uri="{FF2B5EF4-FFF2-40B4-BE49-F238E27FC236}">
                    <a16:creationId xmlns:a16="http://schemas.microsoft.com/office/drawing/2014/main" id="{BAE4F383-18CF-A856-2DD0-E3F6F7DC80A6}"/>
                  </a:ext>
                </a:extLst>
              </p:cNvPr>
              <p:cNvSpPr txBox="1">
                <a:spLocks noRot="1" noChangeAspect="1" noMove="1" noResize="1" noEditPoints="1" noAdjustHandles="1" noChangeArrowheads="1" noChangeShapeType="1" noTextEdit="1"/>
              </p:cNvSpPr>
              <p:nvPr/>
            </p:nvSpPr>
            <p:spPr>
              <a:xfrm>
                <a:off x="8550402" y="3035307"/>
                <a:ext cx="2412916" cy="3206519"/>
              </a:xfrm>
              <a:prstGeom prst="rect">
                <a:avLst/>
              </a:prstGeom>
              <a:blipFill>
                <a:blip r:embed="rId6"/>
                <a:stretch>
                  <a:fillRect l="-2094" t="-1186" b="-1976"/>
                </a:stretch>
              </a:blipFill>
            </p:spPr>
            <p:txBody>
              <a:bodyPr/>
              <a:lstStyle/>
              <a:p>
                <a:r>
                  <a:rPr lang="en-US">
                    <a:noFill/>
                  </a:rPr>
                  <a:t> </a:t>
                </a:r>
              </a:p>
            </p:txBody>
          </p:sp>
        </mc:Fallback>
      </mc:AlternateContent>
    </p:spTree>
    <p:extLst>
      <p:ext uri="{BB962C8B-B14F-4D97-AF65-F5344CB8AC3E}">
        <p14:creationId xmlns:p14="http://schemas.microsoft.com/office/powerpoint/2010/main" val="1729366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E18F-E4BE-D462-1679-308C822E26C6}"/>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299470-F690-CFEC-F987-8BF213863D3C}"/>
                  </a:ext>
                </a:extLst>
              </p:cNvPr>
              <p:cNvSpPr>
                <a:spLocks noGrp="1"/>
              </p:cNvSpPr>
              <p:nvPr>
                <p:ph idx="1"/>
              </p:nvPr>
            </p:nvSpPr>
            <p:spPr/>
            <p:txBody>
              <a:bodyPr>
                <a:normAutofit fontScale="77500" lnSpcReduction="20000"/>
              </a:bodyPr>
              <a:lstStyle/>
              <a:p>
                <a:pPr marL="0" indent="0">
                  <a:buNone/>
                </a:pPr>
                <a14:m>
                  <m:oMathPara xmlns:m="http://schemas.openxmlformats.org/officeDocument/2006/math">
                    <m:oMathParaPr>
                      <m:jc m:val="left"/>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oMath>
                  </m:oMathPara>
                </a14:m>
                <a:endParaRPr lang="en-US" dirty="0"/>
              </a:p>
              <a:p>
                <a:pPr marL="0" indent="0">
                  <a:buNone/>
                </a:pPr>
                <a:r>
                  <a:rPr lang="en-US" dirty="0"/>
                  <a:t>The components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oMath>
                </a14:m>
                <a:r>
                  <a:rPr lang="en-US" dirty="0"/>
                  <a:t> are needed.</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e>
                          </m:d>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e>
                          </m:d>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e>
                          </m:d>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=0−</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r>
                            <a:rPr lang="en-US" b="0" i="1" dirty="0" smtClean="0">
                              <a:latin typeface="Cambria Math" panose="02040503050406030204" pitchFamily="18" charset="0"/>
                            </a:rPr>
                            <m:t>𝜃</m:t>
                          </m:r>
                        </m:e>
                      </m:func>
                    </m:oMath>
                  </m:oMathPara>
                </a14:m>
                <a:endParaRPr lang="en-US" dirty="0"/>
              </a:p>
              <a:p>
                <a:pPr marL="0" indent="0">
                  <a:buNone/>
                </a:pPr>
                <a14:m>
                  <m:oMathPara xmlns:m="http://schemas.openxmlformats.org/officeDocument/2006/math">
                    <m:oMathParaPr>
                      <m:jc m:val="left"/>
                    </m:oMathParaPr>
                    <m:oMath xmlns:m="http://schemas.openxmlformats.org/officeDocument/2006/math">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e>
                          </m:d>
                        </m:e>
                        <m:sub>
                          <m:r>
                            <a:rPr lang="en-US" b="0" i="1" dirty="0" smtClean="0">
                              <a:latin typeface="Cambria Math" panose="02040503050406030204" pitchFamily="18" charset="0"/>
                            </a:rPr>
                            <m:t>𝑦</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e>
                          </m:d>
                        </m:e>
                        <m:sub>
                          <m:r>
                            <a:rPr lang="en-US" b="0" i="1" dirty="0" smtClean="0">
                              <a:latin typeface="Cambria Math" panose="02040503050406030204" pitchFamily="18" charset="0"/>
                            </a:rPr>
                            <m:t>𝑦</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2 </m:t>
                                  </m:r>
                                  <m:r>
                                    <m:rPr>
                                      <m:sty m:val="p"/>
                                    </m:rPr>
                                    <a:rPr lang="en-US" b="0" i="0" dirty="0" smtClean="0">
                                      <a:latin typeface="Cambria Math" panose="02040503050406030204" pitchFamily="18" charset="0"/>
                                    </a:rPr>
                                    <m:t>on</m:t>
                                  </m:r>
                                  <m:r>
                                    <a:rPr lang="en-US" b="0" i="1" dirty="0" smtClean="0">
                                      <a:latin typeface="Cambria Math" panose="02040503050406030204" pitchFamily="18" charset="0"/>
                                    </a:rPr>
                                    <m:t> 3</m:t>
                                  </m:r>
                                </m:sub>
                              </m:sSub>
                            </m:e>
                          </m:d>
                        </m:e>
                        <m:sub>
                          <m:r>
                            <a:rPr lang="en-US" b="0" i="1" dirty="0" smtClean="0">
                              <a:latin typeface="Cambria Math" panose="02040503050406030204" pitchFamily="18" charset="0"/>
                            </a:rPr>
                            <m:t>𝑦</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𝐹</m:t>
                              </m:r>
                            </m:e>
                          </m:acc>
                        </m:e>
                        <m:sub>
                          <m:r>
                            <a:rPr lang="en-US" i="1" dirty="0">
                              <a:latin typeface="Cambria Math" panose="02040503050406030204" pitchFamily="18" charset="0"/>
                            </a:rPr>
                            <m:t>1 </m:t>
                          </m:r>
                          <m:r>
                            <m:rPr>
                              <m:sty m:val="p"/>
                            </m:rPr>
                            <a:rPr lang="en-US" dirty="0">
                              <a:latin typeface="Cambria Math" panose="02040503050406030204" pitchFamily="18" charset="0"/>
                            </a:rPr>
                            <m:t>on</m:t>
                          </m:r>
                          <m:r>
                            <a:rPr lang="en-US" i="1" dirty="0">
                              <a:latin typeface="Cambria Math" panose="02040503050406030204" pitchFamily="18" charset="0"/>
                            </a:rPr>
                            <m:t> 3</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𝐹</m:t>
                              </m:r>
                            </m:e>
                          </m:acc>
                        </m:e>
                        <m:sub>
                          <m:r>
                            <a:rPr lang="en-US" b="0" i="1" dirty="0" smtClean="0">
                              <a:latin typeface="Cambria Math" panose="02040503050406030204" pitchFamily="18" charset="0"/>
                            </a:rPr>
                            <m:t>2</m:t>
                          </m:r>
                          <m:r>
                            <a:rPr lang="en-US" i="1" dirty="0">
                              <a:latin typeface="Cambria Math" panose="02040503050406030204" pitchFamily="18" charset="0"/>
                            </a:rPr>
                            <m:t> </m:t>
                          </m:r>
                          <m:r>
                            <m:rPr>
                              <m:sty m:val="p"/>
                            </m:rPr>
                            <a:rPr lang="en-US" dirty="0">
                              <a:latin typeface="Cambria Math" panose="02040503050406030204" pitchFamily="18" charset="0"/>
                            </a:rPr>
                            <m:t>on</m:t>
                          </m:r>
                          <m:r>
                            <a:rPr lang="en-US" i="1" dirty="0">
                              <a:latin typeface="Cambria Math" panose="02040503050406030204" pitchFamily="18" charset="0"/>
                            </a:rPr>
                            <m:t> 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b="0" i="1" dirty="0" smtClean="0">
                              <a:latin typeface="Cambria Math" panose="02040503050406030204" pitchFamily="18" charset="0"/>
                            </a:rPr>
                            <m:t>𝜃</m:t>
                          </m:r>
                        </m:e>
                      </m:func>
                    </m:oMath>
                  </m:oMathPara>
                </a14:m>
                <a:endParaRPr lang="en-US" dirty="0"/>
              </a:p>
              <a:p>
                <a:pPr marL="0" indent="0">
                  <a:buNone/>
                </a:pPr>
                <a:endParaRPr lang="en-US" dirty="0"/>
              </a:p>
              <a:p>
                <a:pPr marL="0" indent="0">
                  <a:buNone/>
                </a:pPr>
                <a:r>
                  <a:rPr lang="en-US" dirty="0"/>
                  <a:t>Therefore,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oMath>
                </a14:m>
                <a:r>
                  <a:rPr lang="en-US" dirty="0"/>
                  <a:t> can be expressed as:</a:t>
                </a:r>
              </a:p>
              <a:p>
                <a:pPr marL="0" indent="0">
                  <a:buNone/>
                </a:pPr>
                <a14:m>
                  <m:oMathPara xmlns:m="http://schemas.openxmlformats.org/officeDocument/2006/math">
                    <m:oMathParaPr>
                      <m:jc m:val="center"/>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r>
                            <a:rPr lang="en-US" b="0" i="1" dirty="0" smtClean="0">
                              <a:latin typeface="Cambria Math" panose="02040503050406030204" pitchFamily="18" charset="0"/>
                            </a:rPr>
                            <m:t>𝜃</m:t>
                          </m:r>
                        </m:e>
                      </m:func>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𝑖</m:t>
                          </m:r>
                        </m:e>
                      </m:acc>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b="0" i="1" dirty="0" smtClean="0">
                                  <a:latin typeface="Cambria Math" panose="02040503050406030204" pitchFamily="18" charset="0"/>
                                </a:rPr>
                                <m:t>𝜃</m:t>
                              </m:r>
                            </m:e>
                          </m:fun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1,3</m:t>
                              </m:r>
                            </m:sub>
                          </m:sSub>
                        </m:e>
                      </m:d>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𝑗</m:t>
                          </m:r>
                        </m:e>
                      </m:acc>
                    </m:oMath>
                  </m:oMathPara>
                </a14:m>
                <a:endParaRPr lang="en-US" dirty="0"/>
              </a:p>
              <a:p>
                <a:pPr marL="0" indent="0">
                  <a:buNone/>
                </a:pPr>
                <a:endParaRPr lang="en-US" dirty="0"/>
              </a:p>
              <a:p>
                <a:pPr marL="0" indent="0">
                  <a:buNone/>
                </a:pPr>
                <a:r>
                  <a:rPr lang="en-US" dirty="0"/>
                  <a:t>But what are the actual values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1,3</m:t>
                        </m:r>
                      </m:sub>
                    </m:sSub>
                  </m:oMath>
                </a14:m>
                <a:r>
                  <a:rPr lang="en-US" dirty="0"/>
                  <a:t>, </a:t>
                </a:r>
                <a14:m>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𝐹</m:t>
                            </m:r>
                          </m:e>
                        </m:acc>
                      </m:e>
                      <m:sub>
                        <m:r>
                          <a:rPr lang="en-US" i="1" dirty="0">
                            <a:latin typeface="Cambria Math" panose="02040503050406030204" pitchFamily="18" charset="0"/>
                          </a:rPr>
                          <m:t>2,3</m:t>
                        </m:r>
                      </m:sub>
                    </m:sSub>
                  </m:oMath>
                </a14:m>
                <a:r>
                  <a:rPr lang="en-US" dirty="0"/>
                  <a:t>, and </a:t>
                </a:r>
                <a14:m>
                  <m:oMath xmlns:m="http://schemas.openxmlformats.org/officeDocument/2006/math">
                    <m:r>
                      <a:rPr lang="en-US" b="0" i="1" dirty="0" smtClean="0">
                        <a:latin typeface="Cambria Math" panose="02040503050406030204" pitchFamily="18" charset="0"/>
                      </a:rPr>
                      <m:t>𝜃</m:t>
                    </m:r>
                  </m:oMath>
                </a14:m>
                <a:r>
                  <a:rPr lang="en-US" dirty="0"/>
                  <a:t>?</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1299470-F690-CFEC-F987-8BF213863D3C}"/>
                  </a:ext>
                </a:extLst>
              </p:cNvPr>
              <p:cNvSpPr>
                <a:spLocks noGrp="1" noRot="1" noChangeAspect="1" noMove="1" noResize="1" noEditPoints="1" noAdjustHandles="1" noChangeArrowheads="1" noChangeShapeType="1" noTextEdit="1"/>
              </p:cNvSpPr>
              <p:nvPr>
                <p:ph idx="1"/>
              </p:nvPr>
            </p:nvSpPr>
            <p:spPr>
              <a:blipFill>
                <a:blip r:embed="rId2"/>
                <a:stretch>
                  <a:fillRect l="-965" t="-3488" b="-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C755C3C-6620-CBB6-C63F-A2331F69149D}"/>
              </a:ext>
            </a:extLst>
          </p:cNvPr>
          <p:cNvPicPr>
            <a:picLocks noChangeAspect="1"/>
          </p:cNvPicPr>
          <p:nvPr/>
        </p:nvPicPr>
        <p:blipFill>
          <a:blip r:embed="rId3"/>
          <a:stretch>
            <a:fillRect/>
          </a:stretch>
        </p:blipFill>
        <p:spPr>
          <a:xfrm>
            <a:off x="10706100" y="1690688"/>
            <a:ext cx="1295400" cy="2806700"/>
          </a:xfrm>
          <a:prstGeom prst="rect">
            <a:avLst/>
          </a:prstGeom>
        </p:spPr>
      </p:pic>
    </p:spTree>
    <p:extLst>
      <p:ext uri="{BB962C8B-B14F-4D97-AF65-F5344CB8AC3E}">
        <p14:creationId xmlns:p14="http://schemas.microsoft.com/office/powerpoint/2010/main" val="2254162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BF584-C404-6BB2-DCB2-80A39E532990}"/>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00D47C-5A0C-0228-4D1C-3F42DBBEAA6E}"/>
                  </a:ext>
                </a:extLst>
              </p:cNvPr>
              <p:cNvSpPr>
                <a:spLocks noGrp="1"/>
              </p:cNvSpPr>
              <p:nvPr>
                <p:ph idx="1"/>
              </p:nvPr>
            </p:nvSpPr>
            <p:spPr>
              <a:xfrm>
                <a:off x="838200" y="1825625"/>
                <a:ext cx="7829550" cy="4351338"/>
              </a:xfrm>
            </p:spPr>
            <p:txBody>
              <a:bodyPr>
                <a:normAutofit fontScale="85000" lnSpcReduction="20000"/>
              </a:bodyPr>
              <a:lstStyle/>
              <a:p>
                <a:pPr marL="0" indent="0">
                  <a:buNone/>
                </a:pPr>
                <a:r>
                  <a:rPr lang="en-US" dirty="0"/>
                  <a:t>We know that these forces are dictated by Coulomb’s law.</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r>
                                <a:rPr lang="en-US" b="0" i="1" dirty="0" smtClean="0">
                                  <a:latin typeface="Cambria Math" panose="02040503050406030204" pitchFamily="18" charset="0"/>
                                </a:rPr>
                                <m:t>𝜃</m:t>
                              </m:r>
                            </m:e>
                          </m:func>
                        </m:e>
                      </m:d>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𝑖</m:t>
                          </m:r>
                        </m:e>
                      </m:acc>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b="0" i="1" dirty="0" smtClean="0">
                                  <a:latin typeface="Cambria Math" panose="02040503050406030204" pitchFamily="18" charset="0"/>
                                </a:rPr>
                                <m:t>𝜃</m:t>
                              </m:r>
                            </m:e>
                          </m:fun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1,3</m:t>
                              </m:r>
                            </m:sub>
                          </m:sSub>
                        </m:e>
                      </m:d>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𝑗</m:t>
                          </m:r>
                        </m:e>
                      </m:acc>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𝐹</m:t>
                              </m:r>
                            </m:e>
                          </m:acc>
                        </m:e>
                        <m:sub>
                          <m:r>
                            <a:rPr lang="en-US" sz="1800" b="0" i="1" dirty="0" smtClean="0">
                              <a:latin typeface="Cambria Math" panose="02040503050406030204" pitchFamily="18" charset="0"/>
                            </a:rPr>
                            <m:t>1,3</m:t>
                          </m:r>
                        </m:sub>
                      </m:sSub>
                      <m:r>
                        <a:rPr lang="en-US" sz="1800" b="0" i="1" dirty="0" smtClean="0">
                          <a:latin typeface="Cambria Math" panose="02040503050406030204" pitchFamily="18" charset="0"/>
                        </a:rPr>
                        <m:t>=</m:t>
                      </m:r>
                      <m:r>
                        <a:rPr lang="en-US" sz="1800" i="1" smtClean="0">
                          <a:solidFill>
                            <a:schemeClr val="tx1"/>
                          </a:solidFill>
                          <a:latin typeface="Cambria Math" panose="02040503050406030204" pitchFamily="18" charset="0"/>
                        </a:rPr>
                        <m:t>𝐾</m:t>
                      </m:r>
                      <m:f>
                        <m:fPr>
                          <m:ctrlPr>
                            <a:rPr lang="en-US" sz="1800" i="1">
                              <a:solidFill>
                                <a:schemeClr val="tx1"/>
                              </a:solidFill>
                              <a:latin typeface="Cambria Math" panose="02040503050406030204" pitchFamily="18" charset="0"/>
                            </a:rPr>
                          </m:ctrlPr>
                        </m:fPr>
                        <m:num>
                          <m:d>
                            <m:dPr>
                              <m:begChr m:val="|"/>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i="1">
                                      <a:solidFill>
                                        <a:schemeClr val="tx1"/>
                                      </a:solidFill>
                                      <a:latin typeface="Cambria Math" panose="02040503050406030204" pitchFamily="18" charset="0"/>
                                    </a:rPr>
                                    <m:t>1</m:t>
                                  </m:r>
                                </m:sub>
                              </m:sSub>
                            </m:e>
                          </m:d>
                          <m:d>
                            <m:dPr>
                              <m:begChr m:val="|"/>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i="1">
                                      <a:solidFill>
                                        <a:schemeClr val="tx1"/>
                                      </a:solidFill>
                                      <a:latin typeface="Cambria Math" panose="02040503050406030204" pitchFamily="18" charset="0"/>
                                    </a:rPr>
                                    <m:t>3</m:t>
                                  </m:r>
                                </m:sub>
                              </m:sSub>
                            </m:e>
                          </m:d>
                        </m:num>
                        <m:den>
                          <m:sSubSup>
                            <m:sSubSupPr>
                              <m:ctrlPr>
                                <a:rPr lang="en-US" sz="1800" b="0" i="1" smtClean="0">
                                  <a:solidFill>
                                    <a:schemeClr val="tx1"/>
                                  </a:solidFill>
                                  <a:latin typeface="Cambria Math" panose="02040503050406030204" pitchFamily="18" charset="0"/>
                                </a:rPr>
                              </m:ctrlPr>
                            </m:sSubSupPr>
                            <m:e>
                              <m:r>
                                <a:rPr lang="en-US" sz="1800" i="1">
                                  <a:solidFill>
                                    <a:schemeClr val="tx1"/>
                                  </a:solidFill>
                                  <a:latin typeface="Cambria Math" panose="02040503050406030204" pitchFamily="18" charset="0"/>
                                </a:rPr>
                                <m:t>𝑟</m:t>
                              </m:r>
                            </m:e>
                            <m:sub>
                              <m:r>
                                <a:rPr lang="en-US" sz="1800" b="0" i="1" smtClean="0">
                                  <a:solidFill>
                                    <a:schemeClr val="tx1"/>
                                  </a:solidFill>
                                  <a:latin typeface="Cambria Math" panose="02040503050406030204" pitchFamily="18" charset="0"/>
                                </a:rPr>
                                <m:t>1,3</m:t>
                              </m:r>
                            </m:sub>
                            <m:sup>
                              <m:r>
                                <a:rPr lang="en-US" sz="1800" i="1">
                                  <a:solidFill>
                                    <a:schemeClr val="tx1"/>
                                  </a:solidFill>
                                  <a:latin typeface="Cambria Math" panose="02040503050406030204" pitchFamily="18" charset="0"/>
                                </a:rPr>
                                <m:t>2</m:t>
                              </m:r>
                            </m:sup>
                          </m:sSubSup>
                        </m:den>
                      </m:f>
                      <m:r>
                        <a:rPr lang="en-US" sz="1800" b="0" i="1" smtClean="0">
                          <a:solidFill>
                            <a:schemeClr val="tx1"/>
                          </a:solidFill>
                          <a:latin typeface="Cambria Math" panose="02040503050406030204" pitchFamily="18" charset="0"/>
                        </a:rPr>
                        <m:t>=</m:t>
                      </m:r>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9×</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10</m:t>
                              </m:r>
                            </m:e>
                            <m:sup>
                              <m:r>
                                <a:rPr lang="en-US" sz="1800" b="0" i="1" smtClean="0">
                                  <a:solidFill>
                                    <a:schemeClr val="tx1"/>
                                  </a:solidFill>
                                  <a:latin typeface="Cambria Math" panose="02040503050406030204" pitchFamily="18" charset="0"/>
                                </a:rPr>
                                <m:t>9</m:t>
                              </m:r>
                            </m:sup>
                          </m:sSup>
                          <m:f>
                            <m:fPr>
                              <m:ctrlPr>
                                <a:rPr lang="en-US" sz="1800" b="0" i="1" smtClean="0">
                                  <a:solidFill>
                                    <a:schemeClr val="tx1"/>
                                  </a:solidFill>
                                  <a:latin typeface="Cambria Math" panose="02040503050406030204" pitchFamily="18" charset="0"/>
                                </a:rPr>
                              </m:ctrlPr>
                            </m:fPr>
                            <m:num>
                              <m:r>
                                <m:rPr>
                                  <m:sty m:val="p"/>
                                </m:rPr>
                                <a:rPr lang="en-US" sz="1800" b="0" i="0" smtClean="0">
                                  <a:solidFill>
                                    <a:schemeClr val="tx1"/>
                                  </a:solidFill>
                                  <a:latin typeface="Cambria Math" panose="02040503050406030204" pitchFamily="18" charset="0"/>
                                </a:rPr>
                                <m:t>N</m:t>
                              </m:r>
                              <m:sSup>
                                <m:sSupPr>
                                  <m:ctrlPr>
                                    <a:rPr lang="en-US" sz="1800" b="0" i="1" smtClean="0">
                                      <a:solidFill>
                                        <a:schemeClr val="tx1"/>
                                      </a:solidFill>
                                      <a:latin typeface="Cambria Math" panose="02040503050406030204" pitchFamily="18" charset="0"/>
                                    </a:rPr>
                                  </m:ctrlPr>
                                </m:sSupPr>
                                <m:e>
                                  <m:r>
                                    <m:rPr>
                                      <m:sty m:val="p"/>
                                    </m:rPr>
                                    <a:rPr lang="en-US" sz="1800" b="0" i="0" smtClean="0">
                                      <a:solidFill>
                                        <a:schemeClr val="tx1"/>
                                      </a:solidFill>
                                      <a:latin typeface="Cambria Math" panose="02040503050406030204" pitchFamily="18" charset="0"/>
                                    </a:rPr>
                                    <m:t>m</m:t>
                                  </m:r>
                                </m:e>
                                <m:sup>
                                  <m:r>
                                    <a:rPr lang="en-US" sz="1800" b="0" i="0" smtClean="0">
                                      <a:solidFill>
                                        <a:schemeClr val="tx1"/>
                                      </a:solidFill>
                                      <a:latin typeface="Cambria Math" panose="02040503050406030204" pitchFamily="18" charset="0"/>
                                    </a:rPr>
                                    <m:t>2</m:t>
                                  </m:r>
                                </m:sup>
                              </m:sSup>
                            </m:num>
                            <m:den>
                              <m:r>
                                <m:rPr>
                                  <m:sty m:val="p"/>
                                </m:rPr>
                                <a:rPr lang="en-US" sz="1800" b="0" i="0" smtClean="0">
                                  <a:solidFill>
                                    <a:schemeClr val="tx1"/>
                                  </a:solidFill>
                                  <a:latin typeface="Cambria Math" panose="02040503050406030204" pitchFamily="18" charset="0"/>
                                </a:rPr>
                                <m:t>C</m:t>
                              </m:r>
                            </m:den>
                          </m:f>
                        </m:e>
                      </m:d>
                      <m:f>
                        <m:fPr>
                          <m:ctrlPr>
                            <a:rPr lang="en-US" sz="1800" b="0" i="1" smtClean="0">
                              <a:solidFill>
                                <a:schemeClr val="tx1"/>
                              </a:solidFill>
                              <a:latin typeface="Cambria Math" panose="02040503050406030204" pitchFamily="18" charset="0"/>
                            </a:rPr>
                          </m:ctrlPr>
                        </m:fPr>
                        <m:num>
                          <m:d>
                            <m:dPr>
                              <m:begChr m:val="|"/>
                              <m:endChr m:val="|"/>
                              <m:ctrlPr>
                                <a:rPr lang="en-US" sz="1800" b="0" i="1" smtClean="0">
                                  <a:solidFill>
                                    <a:schemeClr val="tx1"/>
                                  </a:solidFill>
                                  <a:latin typeface="Cambria Math" panose="02040503050406030204" pitchFamily="18" charset="0"/>
                                </a:rPr>
                              </m:ctrlPr>
                            </m:dPr>
                            <m:e>
                              <m:r>
                                <a:rPr lang="en-US" sz="1800" b="0" i="0" smtClean="0">
                                  <a:solidFill>
                                    <a:schemeClr val="tx1"/>
                                  </a:solidFill>
                                  <a:latin typeface="Cambria Math" panose="02040503050406030204" pitchFamily="18" charset="0"/>
                                </a:rPr>
                                <m:t>−50×</m:t>
                              </m:r>
                              <m:sSup>
                                <m:sSupPr>
                                  <m:ctrlPr>
                                    <a:rPr lang="en-US" sz="1800" b="0" i="1" smtClean="0">
                                      <a:solidFill>
                                        <a:schemeClr val="tx1"/>
                                      </a:solidFill>
                                      <a:latin typeface="Cambria Math" panose="02040503050406030204" pitchFamily="18" charset="0"/>
                                    </a:rPr>
                                  </m:ctrlPr>
                                </m:sSupPr>
                                <m:e>
                                  <m:r>
                                    <a:rPr lang="en-US" sz="1800" b="0" i="0" smtClean="0">
                                      <a:solidFill>
                                        <a:schemeClr val="tx1"/>
                                      </a:solidFill>
                                      <a:latin typeface="Cambria Math" panose="02040503050406030204" pitchFamily="18" charset="0"/>
                                    </a:rPr>
                                    <m:t>10</m:t>
                                  </m:r>
                                </m:e>
                                <m:sup>
                                  <m:r>
                                    <a:rPr lang="en-US" sz="1800" b="0" i="0" smtClean="0">
                                      <a:solidFill>
                                        <a:schemeClr val="tx1"/>
                                      </a:solidFill>
                                      <a:latin typeface="Cambria Math" panose="02040503050406030204" pitchFamily="18" charset="0"/>
                                    </a:rPr>
                                    <m:t>−9</m:t>
                                  </m:r>
                                </m:sup>
                              </m:sSup>
                              <m:r>
                                <m:rPr>
                                  <m:sty m:val="p"/>
                                </m:rPr>
                                <a:rPr lang="en-US" sz="1800" b="0" i="0" smtClean="0">
                                  <a:solidFill>
                                    <a:schemeClr val="tx1"/>
                                  </a:solidFill>
                                  <a:latin typeface="Cambria Math" panose="02040503050406030204" pitchFamily="18" charset="0"/>
                                </a:rPr>
                                <m:t>C</m:t>
                              </m:r>
                            </m:e>
                          </m:d>
                          <m:r>
                            <a:rPr lang="en-US" sz="1800" b="0" i="0" smtClean="0">
                              <a:solidFill>
                                <a:schemeClr val="tx1"/>
                              </a:solidFill>
                              <a:latin typeface="Cambria Math" panose="02040503050406030204" pitchFamily="18" charset="0"/>
                            </a:rPr>
                            <m:t>|30×</m:t>
                          </m:r>
                          <m:sSup>
                            <m:sSupPr>
                              <m:ctrlPr>
                                <a:rPr lang="en-US" sz="1800" b="0" i="1" smtClean="0">
                                  <a:solidFill>
                                    <a:schemeClr val="tx1"/>
                                  </a:solidFill>
                                  <a:latin typeface="Cambria Math" panose="02040503050406030204" pitchFamily="18" charset="0"/>
                                </a:rPr>
                              </m:ctrlPr>
                            </m:sSupPr>
                            <m:e>
                              <m:r>
                                <a:rPr lang="en-US" sz="1800" b="0" i="0" smtClean="0">
                                  <a:solidFill>
                                    <a:schemeClr val="tx1"/>
                                  </a:solidFill>
                                  <a:latin typeface="Cambria Math" panose="02040503050406030204" pitchFamily="18" charset="0"/>
                                </a:rPr>
                                <m:t>10</m:t>
                              </m:r>
                            </m:e>
                            <m:sup>
                              <m:r>
                                <a:rPr lang="en-US" sz="1800" b="0" i="0" smtClean="0">
                                  <a:solidFill>
                                    <a:schemeClr val="tx1"/>
                                  </a:solidFill>
                                  <a:latin typeface="Cambria Math" panose="02040503050406030204" pitchFamily="18" charset="0"/>
                                </a:rPr>
                                <m:t>−9</m:t>
                              </m:r>
                            </m:sup>
                          </m:sSup>
                          <m:r>
                            <m:rPr>
                              <m:sty m:val="p"/>
                            </m:rPr>
                            <a:rPr lang="en-US" sz="1800" b="0" i="0" smtClean="0">
                              <a:solidFill>
                                <a:schemeClr val="tx1"/>
                              </a:solidFill>
                              <a:latin typeface="Cambria Math" panose="02040503050406030204" pitchFamily="18" charset="0"/>
                            </a:rPr>
                            <m:t>C</m:t>
                          </m:r>
                          <m:r>
                            <a:rPr lang="en-US" sz="1800" b="0" i="0" smtClean="0">
                              <a:solidFill>
                                <a:schemeClr val="tx1"/>
                              </a:solidFill>
                              <a:latin typeface="Cambria Math" panose="02040503050406030204" pitchFamily="18" charset="0"/>
                            </a:rPr>
                            <m:t>|</m:t>
                          </m:r>
                        </m:num>
                        <m:den>
                          <m:sSup>
                            <m:sSupPr>
                              <m:ctrlPr>
                                <a:rPr lang="en-US" sz="1800" b="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r>
                                    <a:rPr lang="en-US" sz="1800" b="0" i="0" smtClean="0">
                                      <a:solidFill>
                                        <a:schemeClr val="tx1"/>
                                      </a:solidFill>
                                      <a:latin typeface="Cambria Math" panose="02040503050406030204" pitchFamily="18" charset="0"/>
                                    </a:rPr>
                                    <m:t>0.1</m:t>
                                  </m:r>
                                  <m:r>
                                    <m:rPr>
                                      <m:sty m:val="p"/>
                                    </m:rPr>
                                    <a:rPr lang="en-US" sz="1800" b="0" i="0" smtClean="0">
                                      <a:solidFill>
                                        <a:schemeClr val="tx1"/>
                                      </a:solidFill>
                                      <a:latin typeface="Cambria Math" panose="02040503050406030204" pitchFamily="18" charset="0"/>
                                    </a:rPr>
                                    <m:t>m</m:t>
                                  </m:r>
                                </m:e>
                              </m:d>
                            </m:e>
                            <m:sup>
                              <m:r>
                                <a:rPr lang="en-US" sz="1800" b="0" i="0" smtClean="0">
                                  <a:solidFill>
                                    <a:schemeClr val="tx1"/>
                                  </a:solidFill>
                                  <a:latin typeface="Cambria Math" panose="02040503050406030204" pitchFamily="18" charset="0"/>
                                </a:rPr>
                                <m:t>2</m:t>
                              </m:r>
                            </m:sup>
                          </m:sSup>
                        </m:den>
                      </m:f>
                      <m:r>
                        <a:rPr lang="en-US" sz="1800" b="0" i="1" smtClean="0">
                          <a:solidFill>
                            <a:schemeClr val="tx1"/>
                          </a:solidFill>
                          <a:latin typeface="Cambria Math" panose="02040503050406030204" pitchFamily="18" charset="0"/>
                        </a:rPr>
                        <m:t>=1.35×</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10</m:t>
                          </m:r>
                        </m:e>
                        <m:sup>
                          <m:r>
                            <a:rPr lang="en-US" sz="1800" b="0" i="1" smtClean="0">
                              <a:solidFill>
                                <a:schemeClr val="tx1"/>
                              </a:solidFill>
                              <a:latin typeface="Cambria Math" panose="02040503050406030204" pitchFamily="18" charset="0"/>
                            </a:rPr>
                            <m:t>−3</m:t>
                          </m:r>
                        </m:sup>
                      </m:sSup>
                      <m:r>
                        <m:rPr>
                          <m:sty m:val="p"/>
                        </m:rPr>
                        <a:rPr lang="en-US" sz="1800" b="0" i="0" smtClean="0">
                          <a:solidFill>
                            <a:schemeClr val="tx1"/>
                          </a:solidFill>
                          <a:latin typeface="Cambria Math" panose="02040503050406030204" pitchFamily="18" charset="0"/>
                        </a:rPr>
                        <m:t>N</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𝐹</m:t>
                              </m:r>
                            </m:e>
                          </m:acc>
                        </m:e>
                        <m:sub>
                          <m:r>
                            <a:rPr lang="en-US" sz="1800" b="0" i="1" dirty="0" smtClean="0">
                              <a:latin typeface="Cambria Math" panose="02040503050406030204" pitchFamily="18" charset="0"/>
                            </a:rPr>
                            <m:t>2,3</m:t>
                          </m:r>
                        </m:sub>
                      </m:sSub>
                      <m:r>
                        <a:rPr lang="en-US" sz="1800" b="0" i="1" dirty="0" smtClean="0">
                          <a:latin typeface="Cambria Math" panose="02040503050406030204" pitchFamily="18" charset="0"/>
                        </a:rPr>
                        <m:t>=</m:t>
                      </m:r>
                      <m:r>
                        <a:rPr lang="en-US" sz="1800" i="1" smtClean="0">
                          <a:solidFill>
                            <a:schemeClr val="tx1"/>
                          </a:solidFill>
                          <a:latin typeface="Cambria Math" panose="02040503050406030204" pitchFamily="18" charset="0"/>
                        </a:rPr>
                        <m:t>𝐾</m:t>
                      </m:r>
                      <m:f>
                        <m:fPr>
                          <m:ctrlPr>
                            <a:rPr lang="en-US" sz="1800" i="1">
                              <a:solidFill>
                                <a:schemeClr val="tx1"/>
                              </a:solidFill>
                              <a:latin typeface="Cambria Math" panose="02040503050406030204" pitchFamily="18" charset="0"/>
                            </a:rPr>
                          </m:ctrlPr>
                        </m:fPr>
                        <m:num>
                          <m:d>
                            <m:dPr>
                              <m:begChr m:val="|"/>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2</m:t>
                                  </m:r>
                                </m:sub>
                              </m:sSub>
                            </m:e>
                          </m:d>
                          <m:d>
                            <m:dPr>
                              <m:begChr m:val="|"/>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i="1">
                                      <a:solidFill>
                                        <a:schemeClr val="tx1"/>
                                      </a:solidFill>
                                      <a:latin typeface="Cambria Math" panose="02040503050406030204" pitchFamily="18" charset="0"/>
                                    </a:rPr>
                                    <m:t>3</m:t>
                                  </m:r>
                                </m:sub>
                              </m:sSub>
                            </m:e>
                          </m:d>
                        </m:num>
                        <m:den>
                          <m:sSubSup>
                            <m:sSubSupPr>
                              <m:ctrlPr>
                                <a:rPr lang="en-US" sz="1800" b="0" i="1" smtClean="0">
                                  <a:solidFill>
                                    <a:schemeClr val="tx1"/>
                                  </a:solidFill>
                                  <a:latin typeface="Cambria Math" panose="02040503050406030204" pitchFamily="18" charset="0"/>
                                </a:rPr>
                              </m:ctrlPr>
                            </m:sSubSupPr>
                            <m:e>
                              <m:r>
                                <a:rPr lang="en-US" sz="1800" i="1">
                                  <a:solidFill>
                                    <a:schemeClr val="tx1"/>
                                  </a:solidFill>
                                  <a:latin typeface="Cambria Math" panose="02040503050406030204" pitchFamily="18" charset="0"/>
                                </a:rPr>
                                <m:t>𝑟</m:t>
                              </m:r>
                            </m:e>
                            <m:sub>
                              <m:r>
                                <a:rPr lang="en-US" sz="1800" b="0" i="1" smtClean="0">
                                  <a:solidFill>
                                    <a:schemeClr val="tx1"/>
                                  </a:solidFill>
                                  <a:latin typeface="Cambria Math" panose="02040503050406030204" pitchFamily="18" charset="0"/>
                                </a:rPr>
                                <m:t>2,3</m:t>
                              </m:r>
                            </m:sub>
                            <m:sup>
                              <m:r>
                                <a:rPr lang="en-US" sz="1800" i="1">
                                  <a:solidFill>
                                    <a:schemeClr val="tx1"/>
                                  </a:solidFill>
                                  <a:latin typeface="Cambria Math" panose="02040503050406030204" pitchFamily="18" charset="0"/>
                                </a:rPr>
                                <m:t>2</m:t>
                              </m:r>
                            </m:sup>
                          </m:sSubSup>
                        </m:den>
                      </m:f>
                      <m:r>
                        <a:rPr lang="en-US" sz="1800" b="0" i="1" smtClean="0">
                          <a:solidFill>
                            <a:schemeClr val="tx1"/>
                          </a:solidFill>
                          <a:latin typeface="Cambria Math" panose="02040503050406030204" pitchFamily="18" charset="0"/>
                        </a:rPr>
                        <m:t>=</m:t>
                      </m:r>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9×</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10</m:t>
                              </m:r>
                            </m:e>
                            <m:sup>
                              <m:r>
                                <a:rPr lang="en-US" sz="1800" b="0" i="1" smtClean="0">
                                  <a:solidFill>
                                    <a:schemeClr val="tx1"/>
                                  </a:solidFill>
                                  <a:latin typeface="Cambria Math" panose="02040503050406030204" pitchFamily="18" charset="0"/>
                                </a:rPr>
                                <m:t>9</m:t>
                              </m:r>
                            </m:sup>
                          </m:sSup>
                          <m:f>
                            <m:fPr>
                              <m:ctrlPr>
                                <a:rPr lang="en-US" sz="1800" b="0" i="1" smtClean="0">
                                  <a:solidFill>
                                    <a:schemeClr val="tx1"/>
                                  </a:solidFill>
                                  <a:latin typeface="Cambria Math" panose="02040503050406030204" pitchFamily="18" charset="0"/>
                                </a:rPr>
                              </m:ctrlPr>
                            </m:fPr>
                            <m:num>
                              <m:r>
                                <m:rPr>
                                  <m:sty m:val="p"/>
                                </m:rPr>
                                <a:rPr lang="en-US" sz="1800" b="0" i="0" smtClean="0">
                                  <a:solidFill>
                                    <a:schemeClr val="tx1"/>
                                  </a:solidFill>
                                  <a:latin typeface="Cambria Math" panose="02040503050406030204" pitchFamily="18" charset="0"/>
                                </a:rPr>
                                <m:t>N</m:t>
                              </m:r>
                              <m:sSup>
                                <m:sSupPr>
                                  <m:ctrlPr>
                                    <a:rPr lang="en-US" sz="1800" b="0" i="1" smtClean="0">
                                      <a:solidFill>
                                        <a:schemeClr val="tx1"/>
                                      </a:solidFill>
                                      <a:latin typeface="Cambria Math" panose="02040503050406030204" pitchFamily="18" charset="0"/>
                                    </a:rPr>
                                  </m:ctrlPr>
                                </m:sSupPr>
                                <m:e>
                                  <m:r>
                                    <m:rPr>
                                      <m:sty m:val="p"/>
                                    </m:rPr>
                                    <a:rPr lang="en-US" sz="1800" b="0" i="0" smtClean="0">
                                      <a:solidFill>
                                        <a:schemeClr val="tx1"/>
                                      </a:solidFill>
                                      <a:latin typeface="Cambria Math" panose="02040503050406030204" pitchFamily="18" charset="0"/>
                                    </a:rPr>
                                    <m:t>m</m:t>
                                  </m:r>
                                </m:e>
                                <m:sup>
                                  <m:r>
                                    <a:rPr lang="en-US" sz="1800" b="0" i="0" smtClean="0">
                                      <a:solidFill>
                                        <a:schemeClr val="tx1"/>
                                      </a:solidFill>
                                      <a:latin typeface="Cambria Math" panose="02040503050406030204" pitchFamily="18" charset="0"/>
                                    </a:rPr>
                                    <m:t>2</m:t>
                                  </m:r>
                                </m:sup>
                              </m:sSup>
                            </m:num>
                            <m:den>
                              <m:r>
                                <m:rPr>
                                  <m:sty m:val="p"/>
                                </m:rPr>
                                <a:rPr lang="en-US" sz="1800" b="0" i="0" smtClean="0">
                                  <a:solidFill>
                                    <a:schemeClr val="tx1"/>
                                  </a:solidFill>
                                  <a:latin typeface="Cambria Math" panose="02040503050406030204" pitchFamily="18" charset="0"/>
                                </a:rPr>
                                <m:t>C</m:t>
                              </m:r>
                            </m:den>
                          </m:f>
                        </m:e>
                      </m:d>
                      <m:f>
                        <m:fPr>
                          <m:ctrlPr>
                            <a:rPr lang="en-US" sz="1800" b="0" i="1" smtClean="0">
                              <a:solidFill>
                                <a:schemeClr val="tx1"/>
                              </a:solidFill>
                              <a:latin typeface="Cambria Math" panose="02040503050406030204" pitchFamily="18" charset="0"/>
                            </a:rPr>
                          </m:ctrlPr>
                        </m:fPr>
                        <m:num>
                          <m:d>
                            <m:dPr>
                              <m:begChr m:val="|"/>
                              <m:endChr m:val="|"/>
                              <m:ctrlPr>
                                <a:rPr lang="en-US" sz="1800" b="0" i="1" smtClean="0">
                                  <a:solidFill>
                                    <a:schemeClr val="tx1"/>
                                  </a:solidFill>
                                  <a:latin typeface="Cambria Math" panose="02040503050406030204" pitchFamily="18" charset="0"/>
                                </a:rPr>
                              </m:ctrlPr>
                            </m:dPr>
                            <m:e>
                              <m:r>
                                <a:rPr lang="en-US" sz="1800" b="0" i="0" smtClean="0">
                                  <a:solidFill>
                                    <a:schemeClr val="tx1"/>
                                  </a:solidFill>
                                  <a:latin typeface="Cambria Math" panose="02040503050406030204" pitchFamily="18" charset="0"/>
                                </a:rPr>
                                <m:t>50×</m:t>
                              </m:r>
                              <m:sSup>
                                <m:sSupPr>
                                  <m:ctrlPr>
                                    <a:rPr lang="en-US" sz="1800" b="0" i="1" smtClean="0">
                                      <a:solidFill>
                                        <a:schemeClr val="tx1"/>
                                      </a:solidFill>
                                      <a:latin typeface="Cambria Math" panose="02040503050406030204" pitchFamily="18" charset="0"/>
                                    </a:rPr>
                                  </m:ctrlPr>
                                </m:sSupPr>
                                <m:e>
                                  <m:r>
                                    <a:rPr lang="en-US" sz="1800" b="0" i="0" smtClean="0">
                                      <a:solidFill>
                                        <a:schemeClr val="tx1"/>
                                      </a:solidFill>
                                      <a:latin typeface="Cambria Math" panose="02040503050406030204" pitchFamily="18" charset="0"/>
                                    </a:rPr>
                                    <m:t>10</m:t>
                                  </m:r>
                                </m:e>
                                <m:sup>
                                  <m:r>
                                    <a:rPr lang="en-US" sz="1800" b="0" i="0" smtClean="0">
                                      <a:solidFill>
                                        <a:schemeClr val="tx1"/>
                                      </a:solidFill>
                                      <a:latin typeface="Cambria Math" panose="02040503050406030204" pitchFamily="18" charset="0"/>
                                    </a:rPr>
                                    <m:t>−9</m:t>
                                  </m:r>
                                </m:sup>
                              </m:sSup>
                              <m:r>
                                <m:rPr>
                                  <m:sty m:val="p"/>
                                </m:rPr>
                                <a:rPr lang="en-US" sz="1800" b="0" i="0" smtClean="0">
                                  <a:solidFill>
                                    <a:schemeClr val="tx1"/>
                                  </a:solidFill>
                                  <a:latin typeface="Cambria Math" panose="02040503050406030204" pitchFamily="18" charset="0"/>
                                </a:rPr>
                                <m:t>C</m:t>
                              </m:r>
                            </m:e>
                          </m:d>
                          <m:r>
                            <a:rPr lang="en-US" sz="1800" b="0" i="0" smtClean="0">
                              <a:solidFill>
                                <a:schemeClr val="tx1"/>
                              </a:solidFill>
                              <a:latin typeface="Cambria Math" panose="02040503050406030204" pitchFamily="18" charset="0"/>
                            </a:rPr>
                            <m:t>|30×</m:t>
                          </m:r>
                          <m:sSup>
                            <m:sSupPr>
                              <m:ctrlPr>
                                <a:rPr lang="en-US" sz="1800" b="0" i="1" smtClean="0">
                                  <a:solidFill>
                                    <a:schemeClr val="tx1"/>
                                  </a:solidFill>
                                  <a:latin typeface="Cambria Math" panose="02040503050406030204" pitchFamily="18" charset="0"/>
                                </a:rPr>
                              </m:ctrlPr>
                            </m:sSupPr>
                            <m:e>
                              <m:r>
                                <a:rPr lang="en-US" sz="1800" b="0" i="0" smtClean="0">
                                  <a:solidFill>
                                    <a:schemeClr val="tx1"/>
                                  </a:solidFill>
                                  <a:latin typeface="Cambria Math" panose="02040503050406030204" pitchFamily="18" charset="0"/>
                                </a:rPr>
                                <m:t>10</m:t>
                              </m:r>
                            </m:e>
                            <m:sup>
                              <m:r>
                                <a:rPr lang="en-US" sz="1800" b="0" i="0" smtClean="0">
                                  <a:solidFill>
                                    <a:schemeClr val="tx1"/>
                                  </a:solidFill>
                                  <a:latin typeface="Cambria Math" panose="02040503050406030204" pitchFamily="18" charset="0"/>
                                </a:rPr>
                                <m:t>−9</m:t>
                              </m:r>
                            </m:sup>
                          </m:sSup>
                          <m:r>
                            <m:rPr>
                              <m:sty m:val="p"/>
                            </m:rPr>
                            <a:rPr lang="en-US" sz="1800" b="0" i="0" smtClean="0">
                              <a:solidFill>
                                <a:schemeClr val="tx1"/>
                              </a:solidFill>
                              <a:latin typeface="Cambria Math" panose="02040503050406030204" pitchFamily="18" charset="0"/>
                            </a:rPr>
                            <m:t>C</m:t>
                          </m:r>
                          <m:r>
                            <a:rPr lang="en-US" sz="1800" b="0" i="0" smtClean="0">
                              <a:solidFill>
                                <a:schemeClr val="tx1"/>
                              </a:solidFill>
                              <a:latin typeface="Cambria Math" panose="02040503050406030204" pitchFamily="18" charset="0"/>
                            </a:rPr>
                            <m:t>|</m:t>
                          </m:r>
                        </m:num>
                        <m:den>
                          <m:sSup>
                            <m:sSupPr>
                              <m:ctrlPr>
                                <a:rPr lang="en-US" sz="1800" b="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rad>
                                    <m:radPr>
                                      <m:degHide m:val="on"/>
                                      <m:ctrlPr>
                                        <a:rPr lang="en-US" sz="1800" b="0" i="1" smtClean="0">
                                          <a:solidFill>
                                            <a:schemeClr val="tx1"/>
                                          </a:solidFill>
                                          <a:latin typeface="Cambria Math" panose="02040503050406030204" pitchFamily="18" charset="0"/>
                                        </a:rPr>
                                      </m:ctrlPr>
                                    </m:radPr>
                                    <m:deg/>
                                    <m:e>
                                      <m:sSup>
                                        <m:sSupPr>
                                          <m:ctrlPr>
                                            <a:rPr lang="en-US" sz="1800" b="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0.05</m:t>
                                              </m:r>
                                              <m:r>
                                                <a:rPr lang="en-US" sz="1800" b="0" i="1" smtClean="0">
                                                  <a:solidFill>
                                                    <a:schemeClr val="tx1"/>
                                                  </a:solidFill>
                                                  <a:latin typeface="Cambria Math" panose="02040503050406030204" pitchFamily="18" charset="0"/>
                                                </a:rPr>
                                                <m:t>𝑚</m:t>
                                              </m:r>
                                            </m:e>
                                          </m:d>
                                        </m:e>
                                        <m:sup>
                                          <m:r>
                                            <a:rPr lang="en-US" sz="1800" b="0" i="1" smtClean="0">
                                              <a:solidFill>
                                                <a:schemeClr val="tx1"/>
                                              </a:solidFill>
                                              <a:latin typeface="Cambria Math" panose="02040503050406030204" pitchFamily="18" charset="0"/>
                                            </a:rPr>
                                            <m:t>2</m:t>
                                          </m:r>
                                        </m:sup>
                                      </m:sSup>
                                      <m:r>
                                        <a:rPr lang="en-US" sz="1800" b="0" i="1" smtClean="0">
                                          <a:solidFill>
                                            <a:schemeClr val="tx1"/>
                                          </a:solidFill>
                                          <a:latin typeface="Cambria Math" panose="02040503050406030204" pitchFamily="18" charset="0"/>
                                        </a:rPr>
                                        <m:t>+</m:t>
                                      </m:r>
                                      <m:sSup>
                                        <m:sSupPr>
                                          <m:ctrlPr>
                                            <a:rPr lang="en-US" sz="1800" b="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0.1</m:t>
                                              </m:r>
                                              <m:r>
                                                <a:rPr lang="en-US" sz="1800" b="0" i="1" smtClean="0">
                                                  <a:solidFill>
                                                    <a:schemeClr val="tx1"/>
                                                  </a:solidFill>
                                                  <a:latin typeface="Cambria Math" panose="02040503050406030204" pitchFamily="18" charset="0"/>
                                                </a:rPr>
                                                <m:t>𝑚</m:t>
                                              </m:r>
                                            </m:e>
                                          </m:d>
                                        </m:e>
                                        <m:sup>
                                          <m:r>
                                            <a:rPr lang="en-US" sz="1800" b="0" i="1" smtClean="0">
                                              <a:solidFill>
                                                <a:schemeClr val="tx1"/>
                                              </a:solidFill>
                                              <a:latin typeface="Cambria Math" panose="02040503050406030204" pitchFamily="18" charset="0"/>
                                            </a:rPr>
                                            <m:t>2</m:t>
                                          </m:r>
                                        </m:sup>
                                      </m:sSup>
                                    </m:e>
                                  </m:rad>
                                </m:e>
                              </m:d>
                            </m:e>
                            <m:sup>
                              <m:r>
                                <a:rPr lang="en-US" sz="1800" b="0" i="0" smtClean="0">
                                  <a:solidFill>
                                    <a:schemeClr val="tx1"/>
                                  </a:solidFill>
                                  <a:latin typeface="Cambria Math" panose="02040503050406030204" pitchFamily="18" charset="0"/>
                                </a:rPr>
                                <m:t>2</m:t>
                              </m:r>
                            </m:sup>
                          </m:sSup>
                        </m:den>
                      </m:f>
                      <m:r>
                        <a:rPr lang="en-US" sz="1800" b="0" i="1" smtClean="0">
                          <a:solidFill>
                            <a:schemeClr val="tx1"/>
                          </a:solidFill>
                          <a:latin typeface="Cambria Math" panose="02040503050406030204" pitchFamily="18" charset="0"/>
                        </a:rPr>
                        <m:t>=1.08×</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10</m:t>
                          </m:r>
                        </m:e>
                        <m:sup>
                          <m:r>
                            <a:rPr lang="en-US" sz="1800" b="0" i="1" smtClean="0">
                              <a:solidFill>
                                <a:schemeClr val="tx1"/>
                              </a:solidFill>
                              <a:latin typeface="Cambria Math" panose="02040503050406030204" pitchFamily="18" charset="0"/>
                            </a:rPr>
                            <m:t>−3</m:t>
                          </m:r>
                        </m:sup>
                      </m:sSup>
                      <m:r>
                        <m:rPr>
                          <m:sty m:val="p"/>
                        </m:rPr>
                        <a:rPr lang="en-US" sz="1800" b="0" i="0" smtClean="0">
                          <a:solidFill>
                            <a:schemeClr val="tx1"/>
                          </a:solidFill>
                          <a:latin typeface="Cambria Math" panose="02040503050406030204" pitchFamily="18" charset="0"/>
                        </a:rPr>
                        <m:t>N</m:t>
                      </m:r>
                    </m:oMath>
                  </m:oMathPara>
                </a14:m>
                <a:endParaRPr lang="en-US" dirty="0"/>
              </a:p>
              <a:p>
                <a:pPr marL="0" indent="0">
                  <a:buNone/>
                </a:pPr>
                <a:endParaRPr lang="en-US" dirty="0"/>
              </a:p>
              <a:p>
                <a:pPr marL="0" indent="0">
                  <a:buNone/>
                </a:pPr>
                <a:r>
                  <a:rPr lang="en-US" dirty="0"/>
                  <a:t>What about </a:t>
                </a:r>
                <a14:m>
                  <m:oMath xmlns:m="http://schemas.openxmlformats.org/officeDocument/2006/math">
                    <m:r>
                      <a:rPr lang="en-US" b="0" i="1" smtClean="0">
                        <a:latin typeface="Cambria Math" panose="02040503050406030204" pitchFamily="18" charset="0"/>
                      </a:rPr>
                      <m:t>𝜃</m:t>
                    </m:r>
                  </m:oMath>
                </a14:m>
                <a:r>
                  <a:rPr lang="en-US" dirty="0"/>
                  <a:t>?</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000D47C-5A0C-0228-4D1C-3F42DBBEAA6E}"/>
                  </a:ext>
                </a:extLst>
              </p:cNvPr>
              <p:cNvSpPr>
                <a:spLocks noGrp="1" noRot="1" noChangeAspect="1" noMove="1" noResize="1" noEditPoints="1" noAdjustHandles="1" noChangeArrowheads="1" noChangeShapeType="1" noTextEdit="1"/>
              </p:cNvSpPr>
              <p:nvPr>
                <p:ph idx="1"/>
              </p:nvPr>
            </p:nvSpPr>
            <p:spPr>
              <a:xfrm>
                <a:off x="838200" y="1825625"/>
                <a:ext cx="7829550" cy="4351338"/>
              </a:xfrm>
              <a:blipFill>
                <a:blip r:embed="rId2"/>
                <a:stretch>
                  <a:fillRect l="-1459" t="-3488" r="-810" b="-203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533BF76-B69B-743C-E366-8107E582FD0B}"/>
              </a:ext>
            </a:extLst>
          </p:cNvPr>
          <p:cNvPicPr>
            <a:picLocks noChangeAspect="1"/>
          </p:cNvPicPr>
          <p:nvPr/>
        </p:nvPicPr>
        <p:blipFill>
          <a:blip r:embed="rId3"/>
          <a:stretch>
            <a:fillRect/>
          </a:stretch>
        </p:blipFill>
        <p:spPr>
          <a:xfrm>
            <a:off x="8667750" y="1437719"/>
            <a:ext cx="3524250" cy="3982561"/>
          </a:xfrm>
          <a:prstGeom prst="rect">
            <a:avLst/>
          </a:prstGeom>
        </p:spPr>
      </p:pic>
    </p:spTree>
    <p:extLst>
      <p:ext uri="{BB962C8B-B14F-4D97-AF65-F5344CB8AC3E}">
        <p14:creationId xmlns:p14="http://schemas.microsoft.com/office/powerpoint/2010/main" val="4039147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0D10A-8F42-3763-5354-6876ECAE41F7}"/>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6D543C-AE71-BED4-7A15-053E37E73968}"/>
                  </a:ext>
                </a:extLst>
              </p:cNvPr>
              <p:cNvSpPr>
                <a:spLocks noGrp="1"/>
              </p:cNvSpPr>
              <p:nvPr>
                <p:ph idx="1"/>
              </p:nvPr>
            </p:nvSpPr>
            <p:spPr>
              <a:xfrm>
                <a:off x="838200" y="1825625"/>
                <a:ext cx="7829550" cy="4351338"/>
              </a:xfrm>
            </p:spPr>
            <p:txBody>
              <a:bodyPr/>
              <a:lstStyle/>
              <a:p>
                <a:pPr marL="0" indent="0">
                  <a:buNone/>
                </a:pPr>
                <a:r>
                  <a:rPr lang="en-US" dirty="0"/>
                  <a:t>Notice that </a:t>
                </a:r>
                <a14:m>
                  <m:oMath xmlns:m="http://schemas.openxmlformats.org/officeDocument/2006/math">
                    <m:r>
                      <a:rPr lang="en-US" b="0" i="1" smtClean="0">
                        <a:latin typeface="Cambria Math" panose="02040503050406030204" pitchFamily="18" charset="0"/>
                      </a:rPr>
                      <m:t>𝜃</m:t>
                    </m:r>
                  </m:oMath>
                </a14:m>
                <a:r>
                  <a:rPr lang="en-US" dirty="0"/>
                  <a:t> shows up in two places. Therefore, the sides of the rectangle can be used to determine its value.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tan</m:t>
                          </m:r>
                        </m:fName>
                        <m:e>
                          <m:r>
                            <a:rPr lang="en-US" b="0" i="1" smtClean="0">
                              <a:latin typeface="Cambria Math" panose="02040503050406030204" pitchFamily="18" charset="0"/>
                            </a:rPr>
                            <m:t>𝜃</m:t>
                          </m:r>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opposite</m:t>
                          </m:r>
                        </m:num>
                        <m:den>
                          <m:r>
                            <m:rPr>
                              <m:sty m:val="p"/>
                            </m:rPr>
                            <a:rPr lang="en-US" b="0" i="0" smtClean="0">
                              <a:latin typeface="Cambria Math" panose="02040503050406030204" pitchFamily="18" charset="0"/>
                            </a:rPr>
                            <m:t>adjacent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10.0</m:t>
                          </m:r>
                          <m:r>
                            <m:rPr>
                              <m:sty m:val="p"/>
                            </m:rPr>
                            <a:rPr lang="en-US" b="0" i="0" smtClean="0">
                              <a:latin typeface="Cambria Math" panose="02040503050406030204" pitchFamily="18" charset="0"/>
                            </a:rPr>
                            <m:t>cm</m:t>
                          </m:r>
                        </m:num>
                        <m:den>
                          <m:r>
                            <a:rPr lang="en-US" b="0" i="0" smtClean="0">
                              <a:latin typeface="Cambria Math" panose="02040503050406030204" pitchFamily="18" charset="0"/>
                            </a:rPr>
                            <m:t>5.0</m:t>
                          </m:r>
                          <m:r>
                            <m:rPr>
                              <m:sty m:val="p"/>
                            </m:rPr>
                            <a:rPr lang="en-US" b="0" i="0" smtClean="0">
                              <a:latin typeface="Cambria Math" panose="02040503050406030204" pitchFamily="18" charset="0"/>
                            </a:rPr>
                            <m:t>cm</m:t>
                          </m:r>
                        </m:den>
                      </m:f>
                      <m:r>
                        <a:rPr lang="en-US" b="0" i="0" smtClean="0">
                          <a:latin typeface="Cambria Math" panose="02040503050406030204" pitchFamily="18" charset="0"/>
                        </a:rPr>
                        <m:t>=</m:t>
                      </m:r>
                      <m:r>
                        <a:rPr lang="en-US" b="0" i="1" smtClean="0">
                          <a:latin typeface="Cambria Math" panose="02040503050406030204" pitchFamily="18" charset="0"/>
                        </a:rPr>
                        <m:t>2</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tan</m:t>
                              </m:r>
                            </m:e>
                            <m:sup>
                              <m:r>
                                <a:rPr lang="en-US" b="0" i="1" smtClean="0">
                                  <a:latin typeface="Cambria Math" panose="02040503050406030204" pitchFamily="18" charset="0"/>
                                </a:rPr>
                                <m:t>−1</m:t>
                              </m:r>
                            </m:sup>
                          </m:sSup>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63.43</m:t>
                          </m:r>
                        </m:e>
                        <m:sup>
                          <m:r>
                            <a:rPr lang="en-US" b="0" i="1" smtClean="0">
                              <a:latin typeface="Cambria Math" panose="02040503050406030204" pitchFamily="18" charset="0"/>
                            </a:rPr>
                            <m:t>∘</m:t>
                          </m:r>
                        </m:sup>
                      </m:sSup>
                    </m:oMath>
                  </m:oMathPara>
                </a14:m>
                <a:endParaRPr lang="en-US" dirty="0"/>
              </a:p>
            </p:txBody>
          </p:sp>
        </mc:Choice>
        <mc:Fallback xmlns="">
          <p:sp>
            <p:nvSpPr>
              <p:cNvPr id="3" name="Content Placeholder 2">
                <a:extLst>
                  <a:ext uri="{FF2B5EF4-FFF2-40B4-BE49-F238E27FC236}">
                    <a16:creationId xmlns:a16="http://schemas.microsoft.com/office/drawing/2014/main" id="{B56D543C-AE71-BED4-7A15-053E37E73968}"/>
                  </a:ext>
                </a:extLst>
              </p:cNvPr>
              <p:cNvSpPr>
                <a:spLocks noGrp="1" noRot="1" noChangeAspect="1" noMove="1" noResize="1" noEditPoints="1" noAdjustHandles="1" noChangeArrowheads="1" noChangeShapeType="1" noTextEdit="1"/>
              </p:cNvSpPr>
              <p:nvPr>
                <p:ph idx="1"/>
              </p:nvPr>
            </p:nvSpPr>
            <p:spPr>
              <a:xfrm>
                <a:off x="838200" y="1825625"/>
                <a:ext cx="7829550" cy="4351338"/>
              </a:xfrm>
              <a:blipFill>
                <a:blip r:embed="rId2"/>
                <a:stretch>
                  <a:fillRect l="-2107"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8C3EEFC-D08C-457D-EA52-0E7384D963D9}"/>
              </a:ext>
            </a:extLst>
          </p:cNvPr>
          <p:cNvPicPr>
            <a:picLocks noChangeAspect="1"/>
          </p:cNvPicPr>
          <p:nvPr/>
        </p:nvPicPr>
        <p:blipFill>
          <a:blip r:embed="rId3"/>
          <a:stretch>
            <a:fillRect/>
          </a:stretch>
        </p:blipFill>
        <p:spPr>
          <a:xfrm>
            <a:off x="8667750" y="1437719"/>
            <a:ext cx="3524250" cy="3982561"/>
          </a:xfrm>
          <a:prstGeom prst="rect">
            <a:avLst/>
          </a:prstGeom>
        </p:spPr>
      </p:pic>
    </p:spTree>
    <p:extLst>
      <p:ext uri="{BB962C8B-B14F-4D97-AF65-F5344CB8AC3E}">
        <p14:creationId xmlns:p14="http://schemas.microsoft.com/office/powerpoint/2010/main" val="883940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7C31-8CD4-2C17-1686-6B59889D8A97}"/>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627E10-0833-5DA3-341F-8EE97CF57079}"/>
                  </a:ext>
                </a:extLst>
              </p:cNvPr>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r>
                                <a:rPr lang="en-US" b="0" i="1" dirty="0" smtClean="0">
                                  <a:latin typeface="Cambria Math" panose="02040503050406030204" pitchFamily="18" charset="0"/>
                                </a:rPr>
                                <m:t>𝜃</m:t>
                              </m:r>
                            </m:e>
                          </m:func>
                        </m:e>
                      </m:d>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𝑖</m:t>
                          </m:r>
                        </m:e>
                      </m:acc>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2,3</m:t>
                              </m:r>
                            </m:sub>
                          </m:sSub>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b="0" i="1" dirty="0" smtClean="0">
                                  <a:latin typeface="Cambria Math" panose="02040503050406030204" pitchFamily="18" charset="0"/>
                                </a:rPr>
                                <m:t>𝜃</m:t>
                              </m:r>
                            </m:e>
                          </m:fun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1,3</m:t>
                              </m:r>
                            </m:sub>
                          </m:sSub>
                        </m:e>
                      </m:d>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𝑗</m:t>
                          </m:r>
                        </m:e>
                      </m:acc>
                    </m:oMath>
                  </m:oMathPara>
                </a14:m>
                <a:endParaRPr lang="en-US" dirty="0"/>
              </a:p>
              <a:p>
                <a:pPr marL="0" indent="0">
                  <a:buNone/>
                </a:pPr>
                <a:endParaRPr lang="en-US" dirty="0"/>
              </a:p>
              <a:p>
                <a:pPr marL="0" indent="0">
                  <a:buNone/>
                </a:pPr>
                <a:r>
                  <a:rPr lang="en-US" dirty="0"/>
                  <a:t>Now,</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2100" b="0" i="1" dirty="0"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𝐹</m:t>
                              </m:r>
                            </m:e>
                          </m:acc>
                        </m:e>
                        <m:sub>
                          <m:r>
                            <a:rPr lang="en-US" sz="2100" b="0" i="1" dirty="0" smtClean="0">
                              <a:latin typeface="Cambria Math" panose="02040503050406030204" pitchFamily="18" charset="0"/>
                            </a:rPr>
                            <m:t>3</m:t>
                          </m:r>
                        </m:sub>
                      </m:sSub>
                      <m:r>
                        <a:rPr lang="en-US" sz="2100" b="0" i="1" dirty="0" smtClean="0">
                          <a:latin typeface="Cambria Math" panose="02040503050406030204" pitchFamily="18" charset="0"/>
                        </a:rPr>
                        <m:t>=</m:t>
                      </m:r>
                      <m:d>
                        <m:dPr>
                          <m:ctrlPr>
                            <a:rPr lang="en-US" sz="2100" b="0" i="1" dirty="0" smtClean="0">
                              <a:latin typeface="Cambria Math" panose="02040503050406030204" pitchFamily="18" charset="0"/>
                            </a:rPr>
                          </m:ctrlPr>
                        </m:dPr>
                        <m:e>
                          <m:r>
                            <a:rPr lang="en-US" sz="2100" b="0" i="1" dirty="0" smtClean="0">
                              <a:latin typeface="Cambria Math" panose="02040503050406030204" pitchFamily="18" charset="0"/>
                            </a:rPr>
                            <m:t>−</m:t>
                          </m:r>
                          <m:d>
                            <m:dPr>
                              <m:ctrlPr>
                                <a:rPr lang="en-US" sz="2100" b="0" i="1" dirty="0" smtClean="0">
                                  <a:latin typeface="Cambria Math" panose="02040503050406030204" pitchFamily="18" charset="0"/>
                                </a:rPr>
                              </m:ctrlPr>
                            </m:dPr>
                            <m:e>
                              <m:r>
                                <a:rPr lang="en-US" sz="2100" i="1">
                                  <a:latin typeface="Cambria Math" panose="02040503050406030204" pitchFamily="18" charset="0"/>
                                </a:rPr>
                                <m:t>1.08×</m:t>
                              </m:r>
                              <m:sSup>
                                <m:sSupPr>
                                  <m:ctrlPr>
                                    <a:rPr lang="en-US" sz="2100" i="1">
                                      <a:latin typeface="Cambria Math" panose="02040503050406030204" pitchFamily="18" charset="0"/>
                                    </a:rPr>
                                  </m:ctrlPr>
                                </m:sSupPr>
                                <m:e>
                                  <m:r>
                                    <a:rPr lang="en-US" sz="2100" i="1">
                                      <a:latin typeface="Cambria Math" panose="02040503050406030204" pitchFamily="18" charset="0"/>
                                    </a:rPr>
                                    <m:t>10</m:t>
                                  </m:r>
                                </m:e>
                                <m:sup>
                                  <m:r>
                                    <a:rPr lang="en-US" sz="2100" i="1">
                                      <a:latin typeface="Cambria Math" panose="02040503050406030204" pitchFamily="18" charset="0"/>
                                    </a:rPr>
                                    <m:t>−3</m:t>
                                  </m:r>
                                </m:sup>
                              </m:sSup>
                              <m:r>
                                <m:rPr>
                                  <m:sty m:val="p"/>
                                </m:rPr>
                                <a:rPr lang="en-US" sz="2100">
                                  <a:latin typeface="Cambria Math" panose="02040503050406030204" pitchFamily="18" charset="0"/>
                                </a:rPr>
                                <m:t>N</m:t>
                              </m:r>
                              <m:r>
                                <m:rPr>
                                  <m:nor/>
                                </m:rPr>
                                <a:rPr lang="en-US" sz="2100" dirty="0"/>
                                <m:t> </m:t>
                              </m:r>
                            </m:e>
                          </m:d>
                          <m:func>
                            <m:funcPr>
                              <m:ctrlPr>
                                <a:rPr lang="en-US" sz="2100" b="0" i="1" dirty="0" smtClean="0">
                                  <a:latin typeface="Cambria Math" panose="02040503050406030204" pitchFamily="18" charset="0"/>
                                </a:rPr>
                              </m:ctrlPr>
                            </m:funcPr>
                            <m:fName>
                              <m:r>
                                <m:rPr>
                                  <m:sty m:val="p"/>
                                </m:rPr>
                                <a:rPr lang="en-US" sz="2100" b="0" i="0" dirty="0" smtClean="0">
                                  <a:latin typeface="Cambria Math" panose="02040503050406030204" pitchFamily="18" charset="0"/>
                                </a:rPr>
                                <m:t>cos</m:t>
                              </m:r>
                            </m:fName>
                            <m:e>
                              <m:r>
                                <a:rPr lang="en-US" sz="2100" b="0" i="1" dirty="0" smtClean="0">
                                  <a:latin typeface="Cambria Math" panose="02040503050406030204" pitchFamily="18" charset="0"/>
                                </a:rPr>
                                <m:t>(</m:t>
                              </m:r>
                              <m:sSup>
                                <m:sSupPr>
                                  <m:ctrlPr>
                                    <a:rPr lang="en-US" sz="2100" b="0" i="1" dirty="0" smtClean="0">
                                      <a:latin typeface="Cambria Math" panose="02040503050406030204" pitchFamily="18" charset="0"/>
                                    </a:rPr>
                                  </m:ctrlPr>
                                </m:sSupPr>
                                <m:e>
                                  <m:r>
                                    <a:rPr lang="en-US" sz="2100" b="0" i="1" dirty="0" smtClean="0">
                                      <a:latin typeface="Cambria Math" panose="02040503050406030204" pitchFamily="18" charset="0"/>
                                    </a:rPr>
                                    <m:t>63.43</m:t>
                                  </m:r>
                                </m:e>
                                <m:sup>
                                  <m:r>
                                    <a:rPr lang="en-US" sz="2100" b="0" i="1" dirty="0" smtClean="0">
                                      <a:latin typeface="Cambria Math" panose="02040503050406030204" pitchFamily="18" charset="0"/>
                                    </a:rPr>
                                    <m:t>∘</m:t>
                                  </m:r>
                                </m:sup>
                              </m:sSup>
                              <m:r>
                                <a:rPr lang="en-US" sz="2100" b="0" i="1" dirty="0" smtClean="0">
                                  <a:latin typeface="Cambria Math" panose="02040503050406030204" pitchFamily="18" charset="0"/>
                                </a:rPr>
                                <m:t>)</m:t>
                              </m:r>
                            </m:e>
                          </m:func>
                        </m:e>
                      </m:d>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𝑖</m:t>
                          </m:r>
                        </m:e>
                      </m:acc>
                      <m:r>
                        <a:rPr lang="en-US" sz="2100" b="0" i="1" dirty="0" smtClean="0">
                          <a:latin typeface="Cambria Math" panose="02040503050406030204" pitchFamily="18" charset="0"/>
                        </a:rPr>
                        <m:t>+</m:t>
                      </m:r>
                      <m:d>
                        <m:dPr>
                          <m:ctrlPr>
                            <a:rPr lang="en-US" sz="2100" b="0" i="1" dirty="0" smtClean="0">
                              <a:latin typeface="Cambria Math" panose="02040503050406030204" pitchFamily="18" charset="0"/>
                            </a:rPr>
                          </m:ctrlPr>
                        </m:dPr>
                        <m:e>
                          <m:r>
                            <a:rPr lang="en-US" sz="2100" b="0" i="1" dirty="0" smtClean="0">
                              <a:latin typeface="Cambria Math" panose="02040503050406030204" pitchFamily="18" charset="0"/>
                            </a:rPr>
                            <m:t>(</m:t>
                          </m:r>
                          <m:r>
                            <a:rPr lang="en-US" sz="2100" i="1">
                              <a:latin typeface="Cambria Math" panose="02040503050406030204" pitchFamily="18" charset="0"/>
                            </a:rPr>
                            <m:t>1.08×</m:t>
                          </m:r>
                          <m:sSup>
                            <m:sSupPr>
                              <m:ctrlPr>
                                <a:rPr lang="en-US" sz="2100" i="1">
                                  <a:latin typeface="Cambria Math" panose="02040503050406030204" pitchFamily="18" charset="0"/>
                                </a:rPr>
                              </m:ctrlPr>
                            </m:sSupPr>
                            <m:e>
                              <m:r>
                                <a:rPr lang="en-US" sz="2100" i="1">
                                  <a:latin typeface="Cambria Math" panose="02040503050406030204" pitchFamily="18" charset="0"/>
                                </a:rPr>
                                <m:t>10</m:t>
                              </m:r>
                            </m:e>
                            <m:sup>
                              <m:r>
                                <a:rPr lang="en-US" sz="2100" i="1">
                                  <a:latin typeface="Cambria Math" panose="02040503050406030204" pitchFamily="18" charset="0"/>
                                </a:rPr>
                                <m:t>−3</m:t>
                              </m:r>
                            </m:sup>
                          </m:sSup>
                          <m:r>
                            <m:rPr>
                              <m:sty m:val="p"/>
                            </m:rPr>
                            <a:rPr lang="en-US" sz="2100">
                              <a:latin typeface="Cambria Math" panose="02040503050406030204" pitchFamily="18" charset="0"/>
                            </a:rPr>
                            <m:t>N</m:t>
                          </m:r>
                          <m:r>
                            <m:rPr>
                              <m:nor/>
                            </m:rPr>
                            <a:rPr lang="en-US" sz="2100" b="0" smtClean="0">
                              <a:latin typeface="Cambria Math" panose="02040503050406030204" pitchFamily="18" charset="0"/>
                            </a:rPr>
                            <m:t>)</m:t>
                          </m:r>
                          <m:func>
                            <m:funcPr>
                              <m:ctrlPr>
                                <a:rPr lang="en-US" sz="2100" b="0" i="1" dirty="0" smtClean="0">
                                  <a:latin typeface="Cambria Math" panose="02040503050406030204" pitchFamily="18" charset="0"/>
                                </a:rPr>
                              </m:ctrlPr>
                            </m:funcPr>
                            <m:fName>
                              <m:r>
                                <m:rPr>
                                  <m:sty m:val="p"/>
                                </m:rPr>
                                <a:rPr lang="en-US" sz="2100" b="0" i="0" dirty="0" smtClean="0">
                                  <a:latin typeface="Cambria Math" panose="02040503050406030204" pitchFamily="18" charset="0"/>
                                </a:rPr>
                                <m:t>sin</m:t>
                              </m:r>
                            </m:fName>
                            <m:e>
                              <m:r>
                                <a:rPr lang="en-US" sz="2100" b="0" i="1" dirty="0" smtClean="0">
                                  <a:latin typeface="Cambria Math" panose="02040503050406030204" pitchFamily="18" charset="0"/>
                                </a:rPr>
                                <m:t>(</m:t>
                              </m:r>
                              <m:sSup>
                                <m:sSupPr>
                                  <m:ctrlPr>
                                    <a:rPr lang="en-US" sz="2100" b="0" i="1" dirty="0" smtClean="0">
                                      <a:latin typeface="Cambria Math" panose="02040503050406030204" pitchFamily="18" charset="0"/>
                                    </a:rPr>
                                  </m:ctrlPr>
                                </m:sSupPr>
                                <m:e>
                                  <m:r>
                                    <a:rPr lang="en-US" sz="2100" b="0" i="1" dirty="0" smtClean="0">
                                      <a:latin typeface="Cambria Math" panose="02040503050406030204" pitchFamily="18" charset="0"/>
                                    </a:rPr>
                                    <m:t>63.43</m:t>
                                  </m:r>
                                </m:e>
                                <m:sup>
                                  <m:r>
                                    <a:rPr lang="en-US" sz="2100" b="0" i="1" dirty="0" smtClean="0">
                                      <a:latin typeface="Cambria Math" panose="02040503050406030204" pitchFamily="18" charset="0"/>
                                    </a:rPr>
                                    <m:t>∘</m:t>
                                  </m:r>
                                </m:sup>
                              </m:sSup>
                              <m:r>
                                <a:rPr lang="en-US" sz="2100" b="0" i="1" dirty="0" smtClean="0">
                                  <a:latin typeface="Cambria Math" panose="02040503050406030204" pitchFamily="18" charset="0"/>
                                </a:rPr>
                                <m:t>)</m:t>
                              </m:r>
                            </m:e>
                          </m:func>
                          <m:r>
                            <a:rPr lang="en-US" sz="2100" b="0" i="1" dirty="0" smtClean="0">
                              <a:latin typeface="Cambria Math" panose="02040503050406030204" pitchFamily="18" charset="0"/>
                            </a:rPr>
                            <m:t>−</m:t>
                          </m:r>
                          <m:d>
                            <m:dPr>
                              <m:ctrlPr>
                                <a:rPr lang="en-US" sz="2100" b="0" i="1" dirty="0" smtClean="0">
                                  <a:latin typeface="Cambria Math" panose="02040503050406030204" pitchFamily="18" charset="0"/>
                                </a:rPr>
                              </m:ctrlPr>
                            </m:dPr>
                            <m:e>
                              <m:r>
                                <a:rPr lang="en-US" sz="2100" i="1">
                                  <a:latin typeface="Cambria Math" panose="02040503050406030204" pitchFamily="18" charset="0"/>
                                </a:rPr>
                                <m:t>1.35×</m:t>
                              </m:r>
                              <m:sSup>
                                <m:sSupPr>
                                  <m:ctrlPr>
                                    <a:rPr lang="en-US" sz="2100" i="1">
                                      <a:latin typeface="Cambria Math" panose="02040503050406030204" pitchFamily="18" charset="0"/>
                                    </a:rPr>
                                  </m:ctrlPr>
                                </m:sSupPr>
                                <m:e>
                                  <m:r>
                                    <a:rPr lang="en-US" sz="2100" i="1">
                                      <a:latin typeface="Cambria Math" panose="02040503050406030204" pitchFamily="18" charset="0"/>
                                    </a:rPr>
                                    <m:t>10</m:t>
                                  </m:r>
                                </m:e>
                                <m:sup>
                                  <m:r>
                                    <a:rPr lang="en-US" sz="2100" i="1">
                                      <a:latin typeface="Cambria Math" panose="02040503050406030204" pitchFamily="18" charset="0"/>
                                    </a:rPr>
                                    <m:t>−3</m:t>
                                  </m:r>
                                </m:sup>
                              </m:sSup>
                              <m:r>
                                <m:rPr>
                                  <m:sty m:val="p"/>
                                </m:rPr>
                                <a:rPr lang="en-US" sz="2100">
                                  <a:latin typeface="Cambria Math" panose="02040503050406030204" pitchFamily="18" charset="0"/>
                                </a:rPr>
                                <m:t>N</m:t>
                              </m:r>
                              <m:r>
                                <m:rPr>
                                  <m:nor/>
                                </m:rPr>
                                <a:rPr lang="en-US" sz="2100" dirty="0"/>
                                <m:t> </m:t>
                              </m:r>
                            </m:e>
                          </m:d>
                        </m:e>
                      </m:d>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𝑗</m:t>
                          </m:r>
                        </m:e>
                      </m:acc>
                    </m:oMath>
                  </m:oMathPara>
                </a14:m>
                <a:endParaRPr lang="en-US" sz="2100" dirty="0"/>
              </a:p>
              <a:p>
                <a:pPr marL="0" indent="0">
                  <a:buNone/>
                </a:pPr>
                <a:endParaRPr lang="en-US" sz="2100" dirty="0"/>
              </a:p>
              <a:p>
                <a:pPr marL="0" indent="0">
                  <a:buNone/>
                </a:pPr>
                <a14:m>
                  <m:oMathPara xmlns:m="http://schemas.openxmlformats.org/officeDocument/2006/math">
                    <m:oMathParaPr>
                      <m:jc m:val="centerGroup"/>
                    </m:oMathParaPr>
                    <m:oMath xmlns:m="http://schemas.openxmlformats.org/officeDocument/2006/math">
                      <m:sSub>
                        <m:sSubPr>
                          <m:ctrlPr>
                            <a:rPr lang="en-US" sz="2100" b="0" i="1" dirty="0"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𝐹</m:t>
                              </m:r>
                            </m:e>
                          </m:acc>
                        </m:e>
                        <m:sub>
                          <m:r>
                            <a:rPr lang="en-US" sz="2100" b="0" i="1" dirty="0" smtClean="0">
                              <a:latin typeface="Cambria Math" panose="02040503050406030204" pitchFamily="18" charset="0"/>
                            </a:rPr>
                            <m:t>3</m:t>
                          </m:r>
                        </m:sub>
                      </m:sSub>
                      <m:r>
                        <a:rPr lang="en-US" sz="2100" b="0" i="1" dirty="0" smtClean="0">
                          <a:latin typeface="Cambria Math" panose="02040503050406030204" pitchFamily="18" charset="0"/>
                        </a:rPr>
                        <m:t>≈−0.000483</m:t>
                      </m:r>
                      <m:r>
                        <m:rPr>
                          <m:sty m:val="p"/>
                        </m:rPr>
                        <a:rPr lang="en-US" sz="2100" b="0" i="0" dirty="0" smtClean="0">
                          <a:latin typeface="Cambria Math" panose="02040503050406030204" pitchFamily="18" charset="0"/>
                        </a:rPr>
                        <m:t>N</m:t>
                      </m:r>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𝑖</m:t>
                          </m:r>
                        </m:e>
                      </m:acc>
                      <m:r>
                        <a:rPr lang="en-US" sz="2100" b="0" i="1" dirty="0" smtClean="0">
                          <a:latin typeface="Cambria Math" panose="02040503050406030204" pitchFamily="18" charset="0"/>
                        </a:rPr>
                        <m:t>−0.000384</m:t>
                      </m:r>
                      <m:r>
                        <m:rPr>
                          <m:sty m:val="p"/>
                        </m:rPr>
                        <a:rPr lang="en-US" sz="2100" b="0" i="0" dirty="0" smtClean="0">
                          <a:latin typeface="Cambria Math" panose="02040503050406030204" pitchFamily="18" charset="0"/>
                        </a:rPr>
                        <m:t>N</m:t>
                      </m:r>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𝑗</m:t>
                          </m:r>
                        </m:e>
                      </m:acc>
                    </m:oMath>
                  </m:oMathPara>
                </a14:m>
                <a:endParaRPr lang="en-US" sz="2100" dirty="0"/>
              </a:p>
              <a:p>
                <a:pPr marL="0" indent="0">
                  <a:buNone/>
                </a:pPr>
                <a:endParaRPr lang="en-US" sz="2100" dirty="0"/>
              </a:p>
              <a:p>
                <a:pPr marL="0" indent="0">
                  <a:buNone/>
                </a:pPr>
                <a:r>
                  <a:rPr lang="en-US" sz="2100" dirty="0"/>
                  <a:t>Rewriting in scientific notation gives</a:t>
                </a:r>
              </a:p>
              <a:p>
                <a:pPr marL="0" indent="0">
                  <a:buNone/>
                </a:pPr>
                <a:endParaRPr lang="en-US" sz="2100" dirty="0"/>
              </a:p>
              <a:p>
                <a:pPr marL="0" indent="0">
                  <a:buNone/>
                </a:pPr>
                <a14:m>
                  <m:oMathPara xmlns:m="http://schemas.openxmlformats.org/officeDocument/2006/math">
                    <m:oMathParaPr>
                      <m:jc m:val="centerGroup"/>
                    </m:oMathParaPr>
                    <m:oMath xmlns:m="http://schemas.openxmlformats.org/officeDocument/2006/math">
                      <m:sSub>
                        <m:sSubPr>
                          <m:ctrlPr>
                            <a:rPr lang="en-US" sz="2100" b="0" i="1" dirty="0"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𝐹</m:t>
                              </m:r>
                            </m:e>
                          </m:acc>
                        </m:e>
                        <m:sub>
                          <m:r>
                            <a:rPr lang="en-US" sz="2100" b="0" i="1" dirty="0" smtClean="0">
                              <a:latin typeface="Cambria Math" panose="02040503050406030204" pitchFamily="18" charset="0"/>
                            </a:rPr>
                            <m:t>3</m:t>
                          </m:r>
                        </m:sub>
                      </m:sSub>
                      <m:r>
                        <a:rPr lang="en-US" sz="2100" b="0" i="1" dirty="0" smtClean="0">
                          <a:latin typeface="Cambria Math" panose="02040503050406030204" pitchFamily="18" charset="0"/>
                        </a:rPr>
                        <m:t>≈−4.83×</m:t>
                      </m:r>
                      <m:sSup>
                        <m:sSupPr>
                          <m:ctrlPr>
                            <a:rPr lang="en-US" sz="2100" b="0" i="1" dirty="0" smtClean="0">
                              <a:latin typeface="Cambria Math" panose="02040503050406030204" pitchFamily="18" charset="0"/>
                            </a:rPr>
                          </m:ctrlPr>
                        </m:sSupPr>
                        <m:e>
                          <m:r>
                            <a:rPr lang="en-US" sz="2100" b="0" i="1" dirty="0" smtClean="0">
                              <a:latin typeface="Cambria Math" panose="02040503050406030204" pitchFamily="18" charset="0"/>
                            </a:rPr>
                            <m:t>10</m:t>
                          </m:r>
                        </m:e>
                        <m:sup>
                          <m:r>
                            <a:rPr lang="en-US" sz="2100" b="0" i="1" dirty="0" smtClean="0">
                              <a:latin typeface="Cambria Math" panose="02040503050406030204" pitchFamily="18" charset="0"/>
                            </a:rPr>
                            <m:t>−4</m:t>
                          </m:r>
                        </m:sup>
                      </m:sSup>
                      <m:r>
                        <m:rPr>
                          <m:sty m:val="p"/>
                        </m:rPr>
                        <a:rPr lang="en-US" sz="2100" b="0" i="0" dirty="0" smtClean="0">
                          <a:latin typeface="Cambria Math" panose="02040503050406030204" pitchFamily="18" charset="0"/>
                        </a:rPr>
                        <m:t>N</m:t>
                      </m:r>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𝑖</m:t>
                          </m:r>
                        </m:e>
                      </m:acc>
                      <m:r>
                        <a:rPr lang="en-US" sz="2100" b="0" i="1" dirty="0" smtClean="0">
                          <a:latin typeface="Cambria Math" panose="02040503050406030204" pitchFamily="18" charset="0"/>
                        </a:rPr>
                        <m:t>−3.84×</m:t>
                      </m:r>
                      <m:sSup>
                        <m:sSupPr>
                          <m:ctrlPr>
                            <a:rPr lang="en-US" sz="2100" b="0" i="1" dirty="0" smtClean="0">
                              <a:latin typeface="Cambria Math" panose="02040503050406030204" pitchFamily="18" charset="0"/>
                            </a:rPr>
                          </m:ctrlPr>
                        </m:sSupPr>
                        <m:e>
                          <m:r>
                            <a:rPr lang="en-US" sz="2100" b="0" i="1" dirty="0" smtClean="0">
                              <a:latin typeface="Cambria Math" panose="02040503050406030204" pitchFamily="18" charset="0"/>
                            </a:rPr>
                            <m:t>10</m:t>
                          </m:r>
                        </m:e>
                        <m:sup>
                          <m:r>
                            <a:rPr lang="en-US" sz="2100" b="0" i="1" dirty="0" smtClean="0">
                              <a:latin typeface="Cambria Math" panose="02040503050406030204" pitchFamily="18" charset="0"/>
                            </a:rPr>
                            <m:t>−4</m:t>
                          </m:r>
                        </m:sup>
                      </m:sSup>
                      <m:r>
                        <m:rPr>
                          <m:sty m:val="p"/>
                        </m:rPr>
                        <a:rPr lang="en-US" sz="2100" b="0" i="0" dirty="0" smtClean="0">
                          <a:latin typeface="Cambria Math" panose="02040503050406030204" pitchFamily="18" charset="0"/>
                        </a:rPr>
                        <m:t>N</m:t>
                      </m:r>
                      <m:acc>
                        <m:accPr>
                          <m:chr m:val="̂"/>
                          <m:ctrlPr>
                            <a:rPr lang="en-US" sz="2100" b="0" i="1" dirty="0" smtClean="0">
                              <a:latin typeface="Cambria Math" panose="02040503050406030204" pitchFamily="18" charset="0"/>
                            </a:rPr>
                          </m:ctrlPr>
                        </m:accPr>
                        <m:e>
                          <m:r>
                            <a:rPr lang="en-US" sz="2100" b="0" i="1" dirty="0" smtClean="0">
                              <a:latin typeface="Cambria Math" panose="02040503050406030204" pitchFamily="18" charset="0"/>
                            </a:rPr>
                            <m:t>𝑗</m:t>
                          </m:r>
                        </m:e>
                      </m:acc>
                    </m:oMath>
                  </m:oMathPara>
                </a14:m>
                <a:endParaRPr lang="en-US" sz="2100" dirty="0"/>
              </a:p>
              <a:p>
                <a:pPr marL="0" indent="0">
                  <a:buNone/>
                </a:pPr>
                <a:endParaRPr lang="en-US" sz="2100" dirty="0"/>
              </a:p>
              <a:p>
                <a:pPr marL="0" indent="0">
                  <a:buNone/>
                </a:pPr>
                <a:endParaRPr lang="en-US" sz="21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B627E10-0833-5DA3-341F-8EE97CF57079}"/>
                  </a:ext>
                </a:extLst>
              </p:cNvPr>
              <p:cNvSpPr>
                <a:spLocks noGrp="1" noRot="1" noChangeAspect="1" noMove="1" noResize="1" noEditPoints="1" noAdjustHandles="1" noChangeArrowheads="1" noChangeShapeType="1" noTextEdit="1"/>
              </p:cNvSpPr>
              <p:nvPr>
                <p:ph idx="1"/>
              </p:nvPr>
            </p:nvSpPr>
            <p:spPr>
              <a:blipFill>
                <a:blip r:embed="rId2"/>
                <a:stretch>
                  <a:fillRect l="-1327" t="-4070"/>
                </a:stretch>
              </a:blipFill>
            </p:spPr>
            <p:txBody>
              <a:bodyPr/>
              <a:lstStyle/>
              <a:p>
                <a:r>
                  <a:rPr lang="en-US">
                    <a:noFill/>
                  </a:rPr>
                  <a:t> </a:t>
                </a:r>
              </a:p>
            </p:txBody>
          </p:sp>
        </mc:Fallback>
      </mc:AlternateContent>
    </p:spTree>
    <p:extLst>
      <p:ext uri="{BB962C8B-B14F-4D97-AF65-F5344CB8AC3E}">
        <p14:creationId xmlns:p14="http://schemas.microsoft.com/office/powerpoint/2010/main" val="240209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785D2-3196-B872-D837-CDDD8B3BD622}"/>
              </a:ext>
            </a:extLst>
          </p:cNvPr>
          <p:cNvSpPr>
            <a:spLocks noGrp="1"/>
          </p:cNvSpPr>
          <p:nvPr>
            <p:ph type="title"/>
          </p:nvPr>
        </p:nvSpPr>
        <p:spPr/>
        <p:txBody>
          <a:bodyPr/>
          <a:lstStyle/>
          <a:p>
            <a:r>
              <a:rPr lang="en-US" dirty="0"/>
              <a:t>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CD2E83-F0DA-5629-CF9A-A0D32CE263E5}"/>
                  </a:ext>
                </a:extLst>
              </p:cNvPr>
              <p:cNvSpPr>
                <a:spLocks noGrp="1"/>
              </p:cNvSpPr>
              <p:nvPr>
                <p:ph idx="1"/>
              </p:nvPr>
            </p:nvSpPr>
            <p:spPr>
              <a:xfrm>
                <a:off x="749300" y="1825624"/>
                <a:ext cx="7918450" cy="4667249"/>
              </a:xfrm>
            </p:spPr>
            <p:txBody>
              <a:bodyPr>
                <a:normAutofit fontScale="62500" lnSpcReduction="20000"/>
              </a:bodyPr>
              <a:lstStyle/>
              <a:p>
                <a:pPr marL="0" indent="0">
                  <a:buNone/>
                </a:pPr>
                <a:r>
                  <a:rPr lang="en-US" dirty="0"/>
                  <a:t>Finally, the </a:t>
                </a:r>
                <a:r>
                  <a:rPr lang="en-US" i="1" dirty="0"/>
                  <a:t>magnitude</a:t>
                </a:r>
                <a:r>
                  <a:rPr lang="en-US" dirty="0"/>
                  <a:t> and </a:t>
                </a:r>
                <a:r>
                  <a:rPr lang="en-US" i="1" dirty="0"/>
                  <a:t>direction</a:t>
                </a:r>
                <a:r>
                  <a:rPr lang="en-US" dirty="0"/>
                  <a:t>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oMath>
                </a14:m>
                <a:r>
                  <a:rPr lang="en-US" dirty="0"/>
                  <a:t> must be determined.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𝐹</m:t>
                              </m:r>
                            </m:e>
                          </m:acc>
                        </m:e>
                        <m:sub>
                          <m:r>
                            <a:rPr lang="en-US" i="1" dirty="0">
                              <a:latin typeface="Cambria Math" panose="02040503050406030204" pitchFamily="18" charset="0"/>
                            </a:rPr>
                            <m:t>3</m:t>
                          </m:r>
                        </m:sub>
                      </m:sSub>
                      <m:r>
                        <a:rPr lang="en-US" i="1" dirty="0">
                          <a:latin typeface="Cambria Math" panose="02040503050406030204" pitchFamily="18" charset="0"/>
                        </a:rPr>
                        <m:t>|=</m:t>
                      </m:r>
                      <m:rad>
                        <m:radPr>
                          <m:degHide m:val="on"/>
                          <m:ctrlPr>
                            <a:rPr lang="en-US" b="0" i="1" dirty="0" smtClean="0">
                              <a:latin typeface="Cambria Math" panose="02040503050406030204" pitchFamily="18" charset="0"/>
                            </a:rPr>
                          </m:ctrlPr>
                        </m:radPr>
                        <m:deg/>
                        <m:e>
                          <m:sSub>
                            <m:sSubPr>
                              <m:ctrlPr>
                                <a:rPr lang="en-US" b="0" i="1" dirty="0" smtClean="0">
                                  <a:latin typeface="Cambria Math" panose="02040503050406030204" pitchFamily="18" charset="0"/>
                                </a:rPr>
                              </m:ctrlPr>
                            </m:sSubPr>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𝐹</m:t>
                                          </m:r>
                                        </m:e>
                                        <m:sub>
                                          <m:r>
                                            <a:rPr lang="en-US" b="0" i="1" dirty="0" smtClean="0">
                                              <a:latin typeface="Cambria Math" panose="02040503050406030204" pitchFamily="18" charset="0"/>
                                            </a:rPr>
                                            <m:t>3</m:t>
                                          </m:r>
                                        </m:sub>
                                      </m:sSub>
                                    </m:e>
                                  </m:d>
                                </m:e>
                                <m:sup>
                                  <m:r>
                                    <a:rPr lang="en-US" b="0" i="1" dirty="0" smtClean="0">
                                      <a:latin typeface="Cambria Math" panose="02040503050406030204" pitchFamily="18" charset="0"/>
                                    </a:rPr>
                                    <m:t>2</m:t>
                                  </m:r>
                                </m:sup>
                              </m:sSup>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𝐹</m:t>
                                          </m:r>
                                        </m:e>
                                        <m:sub>
                                          <m:r>
                                            <a:rPr lang="en-US" b="0" i="1" dirty="0" smtClean="0">
                                              <a:latin typeface="Cambria Math" panose="02040503050406030204" pitchFamily="18" charset="0"/>
                                            </a:rPr>
                                            <m:t>3</m:t>
                                          </m:r>
                                        </m:sub>
                                      </m:sSub>
                                    </m:e>
                                  </m:d>
                                </m:e>
                                <m:sup>
                                  <m:r>
                                    <a:rPr lang="en-US" b="0" i="1" dirty="0" smtClean="0">
                                      <a:latin typeface="Cambria Math" panose="02040503050406030204" pitchFamily="18" charset="0"/>
                                    </a:rPr>
                                    <m:t>2</m:t>
                                  </m:r>
                                </m:sup>
                              </m:sSup>
                            </m:e>
                            <m:sub>
                              <m:r>
                                <a:rPr lang="en-US" b="0" i="1" dirty="0" smtClean="0">
                                  <a:latin typeface="Cambria Math" panose="02040503050406030204" pitchFamily="18" charset="0"/>
                                </a:rPr>
                                <m:t>𝑦</m:t>
                              </m:r>
                            </m:sub>
                          </m:sSub>
                        </m:e>
                      </m:ra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rad>
                        <m:radPr>
                          <m:degHide m:val="on"/>
                          <m:ctrlPr>
                            <a:rPr lang="en-US" b="0" i="1" dirty="0" smtClean="0">
                              <a:latin typeface="Cambria Math" panose="02040503050406030204" pitchFamily="18" charset="0"/>
                            </a:rPr>
                          </m:ctrlPr>
                        </m:radPr>
                        <m:deg/>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0" dirty="0" smtClean="0">
                                      <a:latin typeface="Cambria Math" panose="02040503050406030204" pitchFamily="18" charset="0"/>
                                    </a:rPr>
                                    <m:t>−</m:t>
                                  </m:r>
                                  <m:r>
                                    <a:rPr lang="en-US" i="0" dirty="0">
                                      <a:latin typeface="Cambria Math" panose="02040503050406030204" pitchFamily="18" charset="0"/>
                                    </a:rPr>
                                    <m:t>4.83×</m:t>
                                  </m:r>
                                  <m:sSup>
                                    <m:sSupPr>
                                      <m:ctrlPr>
                                        <a:rPr lang="en-US" i="1" dirty="0">
                                          <a:latin typeface="Cambria Math" panose="02040503050406030204" pitchFamily="18" charset="0"/>
                                        </a:rPr>
                                      </m:ctrlPr>
                                    </m:sSupPr>
                                    <m:e>
                                      <m:r>
                                        <a:rPr lang="en-US" i="0" dirty="0">
                                          <a:latin typeface="Cambria Math" panose="02040503050406030204" pitchFamily="18" charset="0"/>
                                        </a:rPr>
                                        <m:t>10</m:t>
                                      </m:r>
                                    </m:e>
                                    <m:sup>
                                      <m:r>
                                        <a:rPr lang="en-US" i="0" dirty="0">
                                          <a:latin typeface="Cambria Math" panose="02040503050406030204" pitchFamily="18" charset="0"/>
                                        </a:rPr>
                                        <m:t>−4</m:t>
                                      </m:r>
                                    </m:sup>
                                  </m:sSup>
                                  <m:r>
                                    <m:rPr>
                                      <m:sty m:val="p"/>
                                    </m:rPr>
                                    <a:rPr lang="en-US" b="0" i="0" dirty="0" smtClean="0">
                                      <a:latin typeface="Cambria Math" panose="02040503050406030204" pitchFamily="18" charset="0"/>
                                    </a:rPr>
                                    <m:t>N</m:t>
                                  </m:r>
                                </m:e>
                              </m:d>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i="0" dirty="0">
                                      <a:latin typeface="Cambria Math" panose="02040503050406030204" pitchFamily="18" charset="0"/>
                                    </a:rPr>
                                    <m:t>−3.84×</m:t>
                                  </m:r>
                                  <m:sSup>
                                    <m:sSupPr>
                                      <m:ctrlPr>
                                        <a:rPr lang="en-US" i="1" dirty="0">
                                          <a:latin typeface="Cambria Math" panose="02040503050406030204" pitchFamily="18" charset="0"/>
                                        </a:rPr>
                                      </m:ctrlPr>
                                    </m:sSupPr>
                                    <m:e>
                                      <m:r>
                                        <a:rPr lang="en-US" i="0" dirty="0">
                                          <a:latin typeface="Cambria Math" panose="02040503050406030204" pitchFamily="18" charset="0"/>
                                        </a:rPr>
                                        <m:t>10</m:t>
                                      </m:r>
                                    </m:e>
                                    <m:sup>
                                      <m:r>
                                        <a:rPr lang="en-US" i="0" dirty="0">
                                          <a:latin typeface="Cambria Math" panose="02040503050406030204" pitchFamily="18" charset="0"/>
                                        </a:rPr>
                                        <m:t>−4</m:t>
                                      </m:r>
                                    </m:sup>
                                  </m:sSup>
                                  <m:r>
                                    <m:rPr>
                                      <m:sty m:val="p"/>
                                    </m:rPr>
                                    <a:rPr lang="en-US" b="0" i="0" dirty="0" smtClean="0">
                                      <a:latin typeface="Cambria Math" panose="02040503050406030204" pitchFamily="18" charset="0"/>
                                    </a:rPr>
                                    <m:t>N</m:t>
                                  </m:r>
                                </m:e>
                              </m:d>
                            </m:e>
                            <m:sup>
                              <m:r>
                                <a:rPr lang="en-US" b="0" i="1" dirty="0" smtClean="0">
                                  <a:latin typeface="Cambria Math" panose="02040503050406030204" pitchFamily="18" charset="0"/>
                                </a:rPr>
                                <m:t>2</m:t>
                              </m:r>
                            </m:sup>
                          </m:sSup>
                        </m:e>
                      </m:ra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dirty="0" smtClean="0">
                              <a:latin typeface="Cambria Math" panose="02040503050406030204" pitchFamily="18" charset="0"/>
                            </a:rPr>
                            <m:t>3</m:t>
                          </m:r>
                        </m:sub>
                      </m:sSub>
                      <m:r>
                        <a:rPr lang="en-US" b="0" i="1" dirty="0" smtClean="0">
                          <a:latin typeface="Cambria Math" panose="02040503050406030204" pitchFamily="18" charset="0"/>
                        </a:rPr>
                        <m:t>|=6.2×</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10</m:t>
                          </m:r>
                        </m:e>
                        <m:sup>
                          <m:r>
                            <a:rPr lang="en-US" b="0" i="1" dirty="0" smtClean="0">
                              <a:latin typeface="Cambria Math" panose="02040503050406030204" pitchFamily="18" charset="0"/>
                            </a:rPr>
                            <m:t>−4</m:t>
                          </m:r>
                        </m:sup>
                      </m:sSup>
                      <m:r>
                        <m:rPr>
                          <m:sty m:val="p"/>
                        </m:rPr>
                        <a:rPr lang="en-US" b="0" i="0" dirty="0" smtClean="0">
                          <a:latin typeface="Cambria Math" panose="02040503050406030204" pitchFamily="18" charset="0"/>
                        </a:rPr>
                        <m:t>N</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tan</m:t>
                              </m:r>
                            </m:e>
                            <m:sup>
                              <m:r>
                                <a:rPr lang="en-US" b="0" i="1" smtClean="0">
                                  <a:latin typeface="Cambria Math" panose="02040503050406030204" pitchFamily="18" charset="0"/>
                                </a:rPr>
                                <m:t>−1</m:t>
                              </m:r>
                            </m:sup>
                          </m:sSup>
                        </m:fName>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3</m:t>
                                              </m:r>
                                            </m:sub>
                                          </m:sSub>
                                        </m:e>
                                      </m:d>
                                    </m:e>
                                    <m:sub>
                                      <m:r>
                                        <a:rPr lang="en-US" b="0" i="1" smtClean="0">
                                          <a:latin typeface="Cambria Math" panose="02040503050406030204" pitchFamily="18" charset="0"/>
                                        </a:rPr>
                                        <m:t>𝑦</m:t>
                                      </m:r>
                                    </m:sub>
                                  </m:sSub>
                                </m:num>
                                <m:den>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3</m:t>
                                              </m:r>
                                            </m:sub>
                                          </m:sSub>
                                        </m:e>
                                      </m:d>
                                    </m:e>
                                    <m:sub>
                                      <m:r>
                                        <a:rPr lang="en-US" b="0" i="1" smtClean="0">
                                          <a:latin typeface="Cambria Math" panose="02040503050406030204" pitchFamily="18" charset="0"/>
                                        </a:rPr>
                                        <m:t>𝑥</m:t>
                                      </m:r>
                                    </m:sub>
                                  </m:sSub>
                                </m:den>
                              </m:f>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38</m:t>
                          </m:r>
                        </m:e>
                        <m:sup>
                          <m:r>
                            <a:rPr lang="en-US" b="0" i="1" smtClean="0">
                              <a:latin typeface="Cambria Math" panose="02040503050406030204" pitchFamily="18" charset="0"/>
                            </a:rPr>
                            <m:t>∘</m:t>
                          </m:r>
                        </m:sup>
                      </m:sSup>
                    </m:oMath>
                  </m:oMathPara>
                </a14:m>
                <a:endParaRPr lang="en-US" dirty="0"/>
              </a:p>
              <a:p>
                <a:pPr marL="0" indent="0">
                  <a:buNone/>
                </a:pPr>
                <a:endParaRPr lang="en-US" dirty="0"/>
              </a:p>
              <a:p>
                <a:pPr marL="0" indent="0">
                  <a:buNone/>
                </a:pPr>
                <a:r>
                  <a:rPr lang="en-US" dirty="0"/>
                  <a:t>Thus, </a:t>
                </a:r>
                <a14:m>
                  <m:oMath xmlns:m="http://schemas.openxmlformats.org/officeDocument/2006/math">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𝐹</m:t>
                            </m:r>
                          </m:e>
                        </m:acc>
                      </m:e>
                      <m:sub>
                        <m:r>
                          <a:rPr lang="en-US" i="1" dirty="0">
                            <a:latin typeface="Cambria Math" panose="02040503050406030204" pitchFamily="18" charset="0"/>
                          </a:rPr>
                          <m:t>3</m:t>
                        </m:r>
                      </m:sub>
                    </m:sSub>
                  </m:oMath>
                </a14:m>
                <a:r>
                  <a:rPr lang="en-US" dirty="0"/>
                  <a:t> acts with a force of </a:t>
                </a:r>
                <a14:m>
                  <m:oMath xmlns:m="http://schemas.openxmlformats.org/officeDocument/2006/math">
                    <m:r>
                      <a:rPr lang="en-US" b="0" i="1" dirty="0" smtClean="0">
                        <a:latin typeface="Cambria Math" panose="02040503050406030204" pitchFamily="18" charset="0"/>
                      </a:rPr>
                      <m:t>6.2×</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10</m:t>
                        </m:r>
                      </m:e>
                      <m:sup>
                        <m:r>
                          <a:rPr lang="en-US" b="0" i="1" dirty="0" smtClean="0">
                            <a:latin typeface="Cambria Math" panose="02040503050406030204" pitchFamily="18" charset="0"/>
                          </a:rPr>
                          <m:t>−4</m:t>
                        </m:r>
                      </m:sup>
                    </m:sSup>
                    <m:r>
                      <m:rPr>
                        <m:sty m:val="p"/>
                      </m:rPr>
                      <a:rPr lang="en-US" b="0" i="0" dirty="0" smtClean="0">
                        <a:latin typeface="Cambria Math" panose="02040503050406030204" pitchFamily="18" charset="0"/>
                      </a:rPr>
                      <m:t>N</m:t>
                    </m:r>
                  </m:oMath>
                </a14:m>
                <a:r>
                  <a:rPr lang="en-US" dirty="0"/>
                  <a:t>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38</m:t>
                        </m:r>
                      </m:e>
                      <m:sup>
                        <m:r>
                          <a:rPr lang="en-US" i="1" dirty="0">
                            <a:latin typeface="Cambria Math" panose="02040503050406030204" pitchFamily="18" charset="0"/>
                          </a:rPr>
                          <m:t>∘</m:t>
                        </m:r>
                      </m:sup>
                    </m:sSup>
                  </m:oMath>
                </a14:m>
                <a:r>
                  <a:rPr lang="en-US" dirty="0"/>
                  <a:t> below the negative x-axis.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DCD2E83-F0DA-5629-CF9A-A0D32CE263E5}"/>
                  </a:ext>
                </a:extLst>
              </p:cNvPr>
              <p:cNvSpPr>
                <a:spLocks noGrp="1" noRot="1" noChangeAspect="1" noMove="1" noResize="1" noEditPoints="1" noAdjustHandles="1" noChangeArrowheads="1" noChangeShapeType="1" noTextEdit="1"/>
              </p:cNvSpPr>
              <p:nvPr>
                <p:ph idx="1"/>
              </p:nvPr>
            </p:nvSpPr>
            <p:spPr>
              <a:xfrm>
                <a:off x="749300" y="1825624"/>
                <a:ext cx="7918450" cy="4667249"/>
              </a:xfrm>
              <a:blipFill>
                <a:blip r:embed="rId3"/>
                <a:stretch>
                  <a:fillRect l="-962" t="-379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78DFF92-126A-B1F5-DD58-0152147F92C8}"/>
              </a:ext>
            </a:extLst>
          </p:cNvPr>
          <p:cNvPicPr>
            <a:picLocks noChangeAspect="1"/>
          </p:cNvPicPr>
          <p:nvPr/>
        </p:nvPicPr>
        <p:blipFill>
          <a:blip r:embed="rId4"/>
          <a:stretch>
            <a:fillRect/>
          </a:stretch>
        </p:blipFill>
        <p:spPr>
          <a:xfrm>
            <a:off x="8667750" y="1437719"/>
            <a:ext cx="3524250" cy="3982561"/>
          </a:xfrm>
          <a:prstGeom prst="rect">
            <a:avLst/>
          </a:prstGeom>
        </p:spPr>
      </p:pic>
    </p:spTree>
    <p:extLst>
      <p:ext uri="{BB962C8B-B14F-4D97-AF65-F5344CB8AC3E}">
        <p14:creationId xmlns:p14="http://schemas.microsoft.com/office/powerpoint/2010/main" val="3058031081"/>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Univer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2480</TotalTime>
  <Words>984</Words>
  <Application>Microsoft Macintosh PowerPoint</Application>
  <PresentationFormat>Widescreen</PresentationFormat>
  <Paragraphs>131</Paragraphs>
  <Slides>16</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Cambria Math</vt:lpstr>
      <vt:lpstr>Gill Sans Nova</vt:lpstr>
      <vt:lpstr>GradientVTI</vt:lpstr>
      <vt:lpstr>(1.2) Coulomb’s Law</vt:lpstr>
      <vt:lpstr>1.2 Coulomb’s Law Topics</vt:lpstr>
      <vt:lpstr>1.2.1 A Brief History of Coulomb’s Law</vt:lpstr>
      <vt:lpstr>1.2.2 Coulomb’s Law</vt:lpstr>
      <vt:lpstr>1.2.2 Coulomb’s Law</vt:lpstr>
      <vt:lpstr>1.2.3 Units of Charge</vt:lpstr>
      <vt:lpstr>1.2.3 Units of Charge</vt:lpstr>
      <vt:lpstr>1.2.4 Using Coulomb’s Law</vt:lpstr>
      <vt:lpstr>1.2.4 Using Coulomb’s Law</vt:lpstr>
      <vt:lpstr>Example #1</vt:lpstr>
      <vt:lpstr>Example #2</vt:lpstr>
      <vt:lpstr>Example #2</vt:lpstr>
      <vt:lpstr>Example #2</vt:lpstr>
      <vt:lpstr>Example #2</vt:lpstr>
      <vt:lpstr>Example #2</vt:lpstr>
      <vt:lpstr>Example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Dustin Roten</dc:creator>
  <cp:lastModifiedBy>Dustin Roten</cp:lastModifiedBy>
  <cp:revision>106</cp:revision>
  <dcterms:created xsi:type="dcterms:W3CDTF">2025-01-03T01:28:45Z</dcterms:created>
  <dcterms:modified xsi:type="dcterms:W3CDTF">2025-01-20T16:20:39Z</dcterms:modified>
</cp:coreProperties>
</file>