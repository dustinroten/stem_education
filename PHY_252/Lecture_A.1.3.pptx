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376"/>
  </p:normalViewPr>
  <p:slideViewPr>
    <p:cSldViewPr snapToGrid="0">
      <p:cViewPr varScale="1">
        <p:scale>
          <a:sx n="133" d="100"/>
          <a:sy n="133" d="100"/>
        </p:scale>
        <p:origin x="1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E31E6-423A-9A42-95FD-C93B2FACFB68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F261C-8024-B94C-A632-A99BCFDB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0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32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0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53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96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35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27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43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03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1/20/25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0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Math And Science Formulas">
            <a:extLst>
              <a:ext uri="{FF2B5EF4-FFF2-40B4-BE49-F238E27FC236}">
                <a16:creationId xmlns:a16="http://schemas.microsoft.com/office/drawing/2014/main" id="{8D7F1681-2FC5-C5ED-2C0C-7C3382B3145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>
                  <a:alpha val="30000"/>
                </a:schemeClr>
              </a:gs>
              <a:gs pos="33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383F8-AC96-354F-3D88-BDE18E4F5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2762109"/>
            <a:ext cx="11236035" cy="682617"/>
          </a:xfrm>
          <a:solidFill>
            <a:schemeClr val="tx1">
              <a:alpha val="25048"/>
            </a:schemeClr>
          </a:solidFill>
        </p:spPr>
        <p:txBody>
          <a:bodyPr anchor="b">
            <a:normAutofit/>
          </a:bodyPr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</a:rPr>
              <a:t>(1.3) The Field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A1064-D8C7-539C-89D6-404A6782A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7381" y="3754582"/>
            <a:ext cx="5597235" cy="1615687"/>
          </a:xfrm>
          <a:solidFill>
            <a:schemeClr val="tx1">
              <a:alpha val="25000"/>
            </a:schemeClr>
          </a:solidFill>
        </p:spPr>
        <p:txBody>
          <a:bodyPr>
            <a:normAutofit lnSpcReduction="10000"/>
          </a:bodyPr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</a:rPr>
              <a:t>Dustin Roten, Ph.D.</a:t>
            </a:r>
          </a:p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</a:rPr>
              <a:t>Wilkes Community College</a:t>
            </a:r>
          </a:p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</a:rPr>
              <a:t>Spring 2025</a:t>
            </a:r>
          </a:p>
        </p:txBody>
      </p:sp>
    </p:spTree>
    <p:extLst>
      <p:ext uri="{BB962C8B-B14F-4D97-AF65-F5344CB8AC3E}">
        <p14:creationId xmlns:p14="http://schemas.microsoft.com/office/powerpoint/2010/main" val="64225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BDDF-D4EC-EE96-442A-B3B30F0B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1.3 The Field Model</a:t>
            </a:r>
            <a:br>
              <a:rPr lang="en-US" dirty="0"/>
            </a:br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1EC3D-FD6E-0102-7921-DE463AFAF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1.3.1 The Need for a Field Model</a:t>
            </a:r>
          </a:p>
          <a:p>
            <a:pPr marL="0" indent="0">
              <a:buNone/>
            </a:pPr>
            <a:r>
              <a:rPr lang="en-US" dirty="0"/>
              <a:t>1.3.2 The Concept of a Field</a:t>
            </a:r>
          </a:p>
          <a:p>
            <a:pPr marL="0" indent="0">
              <a:buNone/>
            </a:pPr>
            <a:r>
              <a:rPr lang="en-US" dirty="0"/>
              <a:t>1.3.3 The Electric Field</a:t>
            </a:r>
          </a:p>
          <a:p>
            <a:pPr marL="0" indent="0">
              <a:buNone/>
            </a:pPr>
            <a:r>
              <a:rPr lang="en-US" dirty="0"/>
              <a:t>1.3.4 Unit Vector Notation</a:t>
            </a:r>
          </a:p>
          <a:p>
            <a:pPr marL="0" indent="0">
              <a:buNone/>
            </a:pPr>
            <a:r>
              <a:rPr lang="en-US" dirty="0"/>
              <a:t>Example #1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3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5698-E4F7-6AAA-9091-19CB51D3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The Need for a Field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8164D-331E-AAA5-308B-53DE3988D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Electric and magnetic forces, like gravity, are </a:t>
            </a:r>
            <a:r>
              <a:rPr lang="en-US" i="1" dirty="0"/>
              <a:t>long-range forces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No contact is required for one charged particle to exert a force on another charged particle.</a:t>
            </a:r>
          </a:p>
          <a:p>
            <a:endParaRPr lang="en-US" dirty="0"/>
          </a:p>
          <a:p>
            <a:r>
              <a:rPr lang="en-US" i="1" dirty="0"/>
              <a:t>How do long range forces work anyway?</a:t>
            </a:r>
          </a:p>
        </p:txBody>
      </p:sp>
    </p:spTree>
    <p:extLst>
      <p:ext uri="{BB962C8B-B14F-4D97-AF65-F5344CB8AC3E}">
        <p14:creationId xmlns:p14="http://schemas.microsoft.com/office/powerpoint/2010/main" val="191996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8EF6-2CF8-E8ED-1612-B04F351E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The Concept of a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D2C59-D484-0971-91B0-B092C4E1C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4294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Michael Faraday sprinkled iron filings over a magnet, revealing a spatial pattern.</a:t>
            </a:r>
          </a:p>
          <a:p>
            <a:endParaRPr lang="en-US" dirty="0"/>
          </a:p>
          <a:p>
            <a:r>
              <a:rPr lang="en-US" dirty="0"/>
              <a:t>The pattern’s regularity and curved lines suggested that the </a:t>
            </a:r>
            <a:r>
              <a:rPr lang="en-US" i="1" dirty="0"/>
              <a:t>space itself</a:t>
            </a:r>
            <a:r>
              <a:rPr lang="en-US" dirty="0"/>
              <a:t> around the magnetic is filled with some kind of magnetic influence.</a:t>
            </a:r>
          </a:p>
          <a:p>
            <a:endParaRPr lang="en-US" dirty="0"/>
          </a:p>
          <a:p>
            <a:r>
              <a:rPr lang="en-US" dirty="0"/>
              <a:t>This “space alteration” is the mechanism by which the long-range force is exerted.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CF2B3-2D75-3CDB-E6F5-45874646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143" y="1382432"/>
            <a:ext cx="3310857" cy="40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4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D998-4377-B3B0-8485-3A9988F0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Concept of a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D03ED3-587A-F0DF-18DD-9729447665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Faraday’s idea came to be called a </a:t>
                </a:r>
                <a:r>
                  <a:rPr lang="en-US" i="1" dirty="0"/>
                  <a:t>field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This term comes from the mathematical definition of a </a:t>
                </a:r>
                <a:r>
                  <a:rPr lang="en-US" i="1" dirty="0"/>
                  <a:t>field</a:t>
                </a:r>
                <a:r>
                  <a:rPr lang="en-US" dirty="0"/>
                  <a:t>, which describes a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that assigns a value to every point in space.</a:t>
                </a:r>
              </a:p>
              <a:p>
                <a:endParaRPr lang="en-US" dirty="0"/>
              </a:p>
              <a:p>
                <a:r>
                  <a:rPr lang="en-US" dirty="0"/>
                  <a:t>In physics, a charged particle causes an “alteration” everywhere in space. Other charges respond to this alteration.</a:t>
                </a:r>
              </a:p>
              <a:p>
                <a:endParaRPr lang="en-US" dirty="0"/>
              </a:p>
              <a:p>
                <a:r>
                  <a:rPr lang="en-US" dirty="0"/>
                  <a:t>This is the </a:t>
                </a:r>
                <a:r>
                  <a:rPr lang="en-US" i="1" dirty="0"/>
                  <a:t>electric field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D03ED3-587A-F0DF-18DD-9729447665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4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11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9904-C9E3-DE60-16A2-B2C523B91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1.3.3 The Electric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92A275-B782-2F4A-8C05-C148F5F332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i="1" dirty="0"/>
                  <a:t>field model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i="1" dirty="0"/>
                  <a:t>Source charges</a:t>
                </a:r>
                <a:r>
                  <a:rPr lang="en-US" dirty="0"/>
                  <a:t> alter the space around them by creating an electric field,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i="1" dirty="0"/>
                  <a:t>.</a:t>
                </a:r>
              </a:p>
              <a:p>
                <a:pPr lvl="1"/>
                <a:r>
                  <a:rPr lang="en-US" dirty="0"/>
                  <a:t>A separate charge</a:t>
                </a:r>
                <a:r>
                  <a:rPr lang="en-US" i="1" dirty="0"/>
                  <a:t> in </a:t>
                </a:r>
                <a:r>
                  <a:rPr lang="en-US" dirty="0"/>
                  <a:t>the electric field experiences a force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dirty="0"/>
                  <a:t> exerted by </a:t>
                </a:r>
                <a:r>
                  <a:rPr lang="en-US" i="1" dirty="0"/>
                  <a:t>the field</a:t>
                </a:r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Suppose charge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experiences an electric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net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dirty="0"/>
                  <a:t> from other charges.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moves around, the magnitude and direction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net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dirty="0"/>
                  <a:t> vary. 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net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:r>
                  <a:rPr lang="en-US" i="1" dirty="0"/>
                  <a:t>continuous function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’s coordinates.</a:t>
                </a:r>
              </a:p>
              <a:p>
                <a:endParaRPr lang="en-US" dirty="0"/>
              </a:p>
              <a:p>
                <a:r>
                  <a:rPr lang="en-US" dirty="0"/>
                  <a:t>Let us define this as the electric field,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, which has values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92A275-B782-2F4A-8C05-C148F5F33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352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6DF8-5F7D-7152-9426-1881F87B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1.3.3 The Electric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11B372-53A1-EF8C-BEBD-2FC48075B0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net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electric field is a force to charge ratio, so the units are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 magnitude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 is called the electric </a:t>
                </a:r>
                <a:r>
                  <a:rPr lang="en-US" i="1" dirty="0"/>
                  <a:t>field strength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r>
                  <a:rPr lang="en-US" dirty="0"/>
                  <a:t>We </a:t>
                </a:r>
                <a:r>
                  <a:rPr lang="en-US" i="1" dirty="0"/>
                  <a:t>define</a:t>
                </a:r>
                <a:r>
                  <a:rPr lang="en-US" dirty="0"/>
                  <a:t> the electric field at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to be a vector.</a:t>
                </a:r>
              </a:p>
              <a:p>
                <a:endParaRPr lang="en-US" dirty="0"/>
              </a:p>
              <a:p>
                <a:r>
                  <a:rPr lang="en-US" dirty="0"/>
                  <a:t>The basic idea of the field model is that </a:t>
                </a:r>
                <a:r>
                  <a:rPr lang="en-US" i="1" dirty="0"/>
                  <a:t>the field is the agent that exerts an electric force on charge q.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11B372-53A1-EF8C-BEBD-2FC48075B0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61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C52F-CA70-847A-4057-156A4248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1.3.3 The Electric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097E5-F7D0-7F46-0AC7-1376D6AE7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There are three important ideas about the field: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electric field is a </a:t>
            </a:r>
            <a:r>
              <a:rPr lang="en-US" i="1" dirty="0"/>
              <a:t>vector </a:t>
            </a:r>
            <a:r>
              <a:rPr lang="en-US" i="1" u="sng" dirty="0"/>
              <a:t>field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 startAt="2"/>
            </a:pPr>
            <a:r>
              <a:rPr lang="en-US" dirty="0"/>
              <a:t>If </a:t>
            </a:r>
            <a:r>
              <a:rPr lang="en-US" i="1" dirty="0"/>
              <a:t>q</a:t>
            </a:r>
            <a:r>
              <a:rPr lang="en-US" dirty="0"/>
              <a:t> is positive, the electric field vector points in the same direction as the force on the charge.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 startAt="3"/>
            </a:pPr>
            <a:r>
              <a:rPr lang="en-US" dirty="0"/>
              <a:t>The electric field is </a:t>
            </a:r>
            <a:r>
              <a:rPr lang="en-US" i="1" dirty="0"/>
              <a:t>independent</a:t>
            </a:r>
            <a:r>
              <a:rPr lang="en-US" dirty="0"/>
              <a:t> of the charge </a:t>
            </a:r>
            <a:r>
              <a:rPr lang="en-US" i="1" dirty="0"/>
              <a:t>q</a:t>
            </a:r>
            <a:r>
              <a:rPr lang="en-US" dirty="0"/>
              <a:t>. The charge </a:t>
            </a:r>
            <a:r>
              <a:rPr lang="en-US" i="1" dirty="0"/>
              <a:t>q</a:t>
            </a:r>
            <a:r>
              <a:rPr lang="en-US" dirty="0"/>
              <a:t> is only a charge used to </a:t>
            </a:r>
            <a:r>
              <a:rPr lang="en-US" i="1" dirty="0"/>
              <a:t>probe</a:t>
            </a:r>
            <a:r>
              <a:rPr lang="en-US" dirty="0"/>
              <a:t> the electric field.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does #3 even mean!?</a:t>
            </a:r>
          </a:p>
        </p:txBody>
      </p:sp>
    </p:spTree>
    <p:extLst>
      <p:ext uri="{BB962C8B-B14F-4D97-AF65-F5344CB8AC3E}">
        <p14:creationId xmlns:p14="http://schemas.microsoft.com/office/powerpoint/2010/main" val="3340475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FBCE-3E73-B6E1-A47C-22FF5DBB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1.3.3 The Electric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2D966A-F36D-FAC9-5CEA-E9724E211C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Suppose we have two different charges,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, that are interacting with one another ove</a:t>
                </a:r>
                <a:r>
                  <a:rPr lang="en-US" dirty="0">
                    <a:latin typeface="Cambria Math" panose="02040503050406030204" pitchFamily="18" charset="0"/>
                  </a:rPr>
                  <a:t>r some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.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From Coulomb’s law, we know that these charges exert forces on each other,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.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What if we are interested in the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-field generated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  <a:r>
                  <a:rPr lang="en-US" b="0" u="sng" dirty="0">
                    <a:latin typeface="Cambria Math" panose="02040503050406030204" pitchFamily="18" charset="0"/>
                  </a:rPr>
                  <a:t>only</a:t>
                </a:r>
                <a:r>
                  <a:rPr lang="en-US" b="0" dirty="0">
                    <a:latin typeface="Cambria Math" panose="02040503050406030204" pitchFamily="18" charset="0"/>
                  </a:rPr>
                  <a:t>?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becomes a “test charge” or probe.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test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net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test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test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(Notice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cancels out!)</a:t>
                </a:r>
              </a:p>
              <a:p>
                <a:endParaRPr lang="en-US" dirty="0"/>
              </a:p>
              <a:p>
                <a:r>
                  <a:rPr lang="en-US" dirty="0"/>
                  <a:t>This leaves the electric field strength of charge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2D966A-F36D-FAC9-5CEA-E9724E211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844" t="-2981" b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10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6859-5C87-CCB7-9A4A-C70B5CE4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1.3.3 The Electric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DA7A3E-FBB8-F9CC-D5E0-76479FE49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8251625" cy="46672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In summary: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electric field,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, generated by a charge can be determined using a </a:t>
                </a:r>
                <a:r>
                  <a:rPr lang="en-US" i="1" dirty="0"/>
                  <a:t>test charge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at a point </a:t>
                </a:r>
                <a:r>
                  <a:rPr lang="en-US" i="1" dirty="0"/>
                  <a:t>(</a:t>
                </a:r>
                <a:r>
                  <a:rPr lang="en-US" i="1" dirty="0" err="1"/>
                  <a:t>x,y,z</a:t>
                </a:r>
                <a:r>
                  <a:rPr lang="en-US" i="1" dirty="0"/>
                  <a:t>)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i="1" dirty="0"/>
                  <a:t>force</a:t>
                </a:r>
                <a:r>
                  <a:rPr lang="en-US" dirty="0"/>
                  <a:t> on the test charge, can be determined by: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If </a:t>
                </a:r>
                <a:r>
                  <a:rPr lang="en-US" i="1" dirty="0"/>
                  <a:t>q </a:t>
                </a:r>
                <a:r>
                  <a:rPr lang="en-US" dirty="0"/>
                  <a:t>is positive, the force on </a:t>
                </a:r>
                <a:r>
                  <a:rPr lang="en-US" i="1" dirty="0"/>
                  <a:t>q</a:t>
                </a:r>
                <a:r>
                  <a:rPr lang="en-US" dirty="0"/>
                  <a:t> is in the </a:t>
                </a:r>
                <a:r>
                  <a:rPr lang="en-US" u="sng" dirty="0"/>
                  <a:t>same</a:t>
                </a:r>
                <a:r>
                  <a:rPr lang="en-US" dirty="0"/>
                  <a:t> direction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</a:t>
                </a:r>
                <a:r>
                  <a:rPr lang="en-US" i="1" dirty="0"/>
                  <a:t>q </a:t>
                </a:r>
                <a:r>
                  <a:rPr lang="en-US" dirty="0"/>
                  <a:t>is negative, the force on </a:t>
                </a:r>
                <a:r>
                  <a:rPr lang="en-US" i="1" dirty="0"/>
                  <a:t>q</a:t>
                </a:r>
                <a:r>
                  <a:rPr lang="en-US" dirty="0"/>
                  <a:t> is in the </a:t>
                </a:r>
                <a:r>
                  <a:rPr lang="en-US" u="sng" dirty="0"/>
                  <a:t>opposite</a:t>
                </a:r>
                <a:r>
                  <a:rPr lang="en-US" dirty="0"/>
                  <a:t> direction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DA7A3E-FBB8-F9CC-D5E0-76479FE49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8251625" cy="4667250"/>
              </a:xfrm>
              <a:blipFill>
                <a:blip r:embed="rId2"/>
                <a:stretch>
                  <a:fillRect l="-1231" t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4D62C64-882F-7404-FDC5-7A1AAE474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826" y="660787"/>
            <a:ext cx="3102174" cy="583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60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6519-0BA8-A016-E656-D9046DD1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1.3.3 The Electric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B00C6E-049D-3793-A1ED-5051B94814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7619082" cy="46672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Suppose there are two positive charges,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a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away.</a:t>
                </a:r>
              </a:p>
              <a:p>
                <a:r>
                  <a:rPr lang="en-US" dirty="0"/>
                  <a:t>What is the force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away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from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What is the electric field strength at the 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on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away</m:t>
                          </m:r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from</m:t>
                          </m:r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B00C6E-049D-3793-A1ED-5051B9481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7619082" cy="4667250"/>
              </a:xfrm>
              <a:blipFill>
                <a:blip r:embed="rId2"/>
                <a:stretch>
                  <a:fillRect l="-1500" t="-3252" r="-2667" b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1121726-4F57-86C6-FD31-C6FFCD170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282" y="0"/>
            <a:ext cx="3734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60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CD965-964E-1588-EEFA-9FA3BBEE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1.3.3 The Electric Field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677EC-DB74-8879-9905-5BD03C106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calculate the field at enough points, we can draw a </a:t>
            </a:r>
            <a:r>
              <a:rPr lang="en-US" i="1" dirty="0"/>
              <a:t>field diagram. </a:t>
            </a:r>
            <a:r>
              <a:rPr lang="en-US" dirty="0"/>
              <a:t>Notice that the field vectors all point straight away from the charge. Also, the vectors quickly decrease in length due to the inverse-square dependence on </a:t>
            </a:r>
            <a:r>
              <a:rPr lang="en-US" i="1" dirty="0"/>
              <a:t>r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64E80-0467-45E4-1E81-F8BFE05A0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026" y="3728070"/>
            <a:ext cx="3249253" cy="3129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8714A-1D10-FCF6-C263-DFFF63B46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79" y="3700274"/>
            <a:ext cx="3249253" cy="31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85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BB60-2AB8-D621-C1FF-9FEE5E631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1.3.4 Unit 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147E5-F2E0-9AD9-9D49-0056B4044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can we represent “away from </a:t>
                </a:r>
                <a:r>
                  <a:rPr lang="en-US" i="1" dirty="0"/>
                  <a:t>q</a:t>
                </a:r>
                <a:r>
                  <a:rPr lang="en-US" dirty="0"/>
                  <a:t>” more mathematically?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dirty="0"/>
                  <a:t> already provide information about direction. Can something similar be used?</a:t>
                </a:r>
              </a:p>
              <a:p>
                <a:endParaRPr lang="en-US" dirty="0"/>
              </a:p>
              <a:p>
                <a:r>
                  <a:rPr lang="en-US" dirty="0"/>
                  <a:t>Let’s define the unit vector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/>
                  <a:t> to be a vector of length 1 that points from the origin to a point of interest. It </a:t>
                </a:r>
                <a:r>
                  <a:rPr lang="en-US" i="1" dirty="0"/>
                  <a:t>does not </a:t>
                </a:r>
                <a:r>
                  <a:rPr lang="en-US" dirty="0"/>
                  <a:t>provide information on distance, only direction.</a:t>
                </a:r>
              </a:p>
              <a:p>
                <a:endParaRPr lang="en-US" dirty="0"/>
              </a:p>
              <a:p>
                <a:r>
                  <a:rPr lang="en-US" dirty="0"/>
                  <a:t>Thus, the electric field at some point away from a charge can be represented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147E5-F2E0-9AD9-9D49-0056B4044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844" t="-2981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250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E2EB-697B-FE8C-136E-37C85ABA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CC9D7B-4A3B-2D56-A05F-019785844A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9599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−1.0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nC</m:t>
                    </m:r>
                  </m:oMath>
                </a14:m>
                <a:r>
                  <a:rPr lang="en-US" dirty="0"/>
                  <a:t> charged particle is located at the origin. Points 1, 2, and 3 have (</a:t>
                </a:r>
                <a:r>
                  <a:rPr lang="en-US" dirty="0" err="1"/>
                  <a:t>x,y</a:t>
                </a:r>
                <a:r>
                  <a:rPr lang="en-US" dirty="0"/>
                  <a:t>) coordinates (1cm, 0cm), (0cm, 1cm), and (1cm, 1cm), respectively. Determine the electric field at these points.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CC9D7B-4A3B-2D56-A05F-019785844A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95995"/>
              </a:xfrm>
              <a:blipFill>
                <a:blip r:embed="rId2"/>
                <a:stretch>
                  <a:fillRect l="-1327" t="-16092" r="-1689" b="-14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CF5EC6B-3953-27F0-4BD7-43012258B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21620"/>
            <a:ext cx="3662230" cy="37954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C1F8C5-CE8A-A74A-2879-7ACDE7393599}"/>
                  </a:ext>
                </a:extLst>
              </p:cNvPr>
              <p:cNvSpPr txBox="1"/>
              <p:nvPr/>
            </p:nvSpPr>
            <p:spPr>
              <a:xfrm>
                <a:off x="4809800" y="3056557"/>
                <a:ext cx="7086235" cy="3807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9.0×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−1.0×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−9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0.01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=90,000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=−9×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=−9×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9.0×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−1.0×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−9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0.0141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=45,000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e>
                      </m:func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e>
                      </m:func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=−31,800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−31,800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C1F8C5-CE8A-A74A-2879-7ACDE7393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800" y="3056557"/>
                <a:ext cx="7086235" cy="38079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90153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11206</TotalTime>
  <Words>951</Words>
  <Application>Microsoft Macintosh PowerPoint</Application>
  <PresentationFormat>Widescreen</PresentationFormat>
  <Paragraphs>109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Cambria Math</vt:lpstr>
      <vt:lpstr>Gill Sans Nova</vt:lpstr>
      <vt:lpstr>GradientVTI</vt:lpstr>
      <vt:lpstr>(1.3) The Field Model</vt:lpstr>
      <vt:lpstr>1.3 The Field Model Topics</vt:lpstr>
      <vt:lpstr>1.3.1 The Need for a Field Model</vt:lpstr>
      <vt:lpstr>1.3.2 The Concept of a Field</vt:lpstr>
      <vt:lpstr>1.3.2 Concept of a Field</vt:lpstr>
      <vt:lpstr>1.3.3 The Electric Field</vt:lpstr>
      <vt:lpstr>1.3.3 The Electric Field</vt:lpstr>
      <vt:lpstr>1.3.3 The Electric Field</vt:lpstr>
      <vt:lpstr>1.3.3 The Electric Field</vt:lpstr>
      <vt:lpstr>1.3.3 The Electric Field</vt:lpstr>
      <vt:lpstr>1.3.3 The Electric Field</vt:lpstr>
      <vt:lpstr>1.3.3 The Electric Field </vt:lpstr>
      <vt:lpstr>1.3.4 Unit Vector Notation</vt:lpstr>
      <vt:lpstr>Example #1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Dustin Roten</dc:creator>
  <cp:lastModifiedBy>Dustin Roten</cp:lastModifiedBy>
  <cp:revision>152</cp:revision>
  <dcterms:created xsi:type="dcterms:W3CDTF">2025-01-03T01:28:45Z</dcterms:created>
  <dcterms:modified xsi:type="dcterms:W3CDTF">2025-01-20T17:59:02Z</dcterms:modified>
</cp:coreProperties>
</file>