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1"/>
    <p:restoredTop sz="94718"/>
  </p:normalViewPr>
  <p:slideViewPr>
    <p:cSldViewPr snapToGrid="0">
      <p:cViewPr varScale="1">
        <p:scale>
          <a:sx n="113" d="100"/>
          <a:sy n="113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632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05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8535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31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96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358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27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43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503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1/6/25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509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ghtning_rod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Math And Science Formulas">
            <a:extLst>
              <a:ext uri="{FF2B5EF4-FFF2-40B4-BE49-F238E27FC236}">
                <a16:creationId xmlns:a16="http://schemas.microsoft.com/office/drawing/2014/main" id="{8D7F1681-2FC5-C5ED-2C0C-7C3382B3145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-1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>
                  <a:alpha val="30000"/>
                </a:schemeClr>
              </a:gs>
              <a:gs pos="33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383F8-AC96-354F-3D88-BDE18E4F5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2762109"/>
            <a:ext cx="11236035" cy="682617"/>
          </a:xfrm>
          <a:solidFill>
            <a:schemeClr val="tx1">
              <a:alpha val="25048"/>
            </a:schemeClr>
          </a:solidFill>
        </p:spPr>
        <p:txBody>
          <a:bodyPr anchor="b">
            <a:normAutofit/>
          </a:bodyPr>
          <a:lstStyle/>
          <a:p>
            <a:pPr algn="ctr"/>
            <a:r>
              <a:rPr lang="en-US" sz="3200" dirty="0">
                <a:ln>
                  <a:solidFill>
                    <a:schemeClr val="bg1"/>
                  </a:solidFill>
                </a:ln>
              </a:rPr>
              <a:t>(1.1) Charges, Conductors, and Insulators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A1064-D8C7-539C-89D6-404A6782A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7381" y="3754582"/>
            <a:ext cx="5597235" cy="1615687"/>
          </a:xfrm>
          <a:solidFill>
            <a:schemeClr val="tx1">
              <a:alpha val="25000"/>
            </a:schemeClr>
          </a:solidFill>
        </p:spPr>
        <p:txBody>
          <a:bodyPr>
            <a:normAutofit lnSpcReduction="10000"/>
          </a:bodyPr>
          <a:lstStyle/>
          <a:p>
            <a:pPr algn="ctr"/>
            <a:r>
              <a:rPr lang="en-US" sz="3200" dirty="0">
                <a:ln>
                  <a:solidFill>
                    <a:schemeClr val="bg1"/>
                  </a:solidFill>
                </a:ln>
              </a:rPr>
              <a:t>Dustin Roten, Ph.D.</a:t>
            </a:r>
          </a:p>
          <a:p>
            <a:pPr algn="ctr"/>
            <a:r>
              <a:rPr lang="en-US" sz="3200" dirty="0">
                <a:ln>
                  <a:solidFill>
                    <a:schemeClr val="bg1"/>
                  </a:solidFill>
                </a:ln>
              </a:rPr>
              <a:t>Wilkes Community College</a:t>
            </a:r>
          </a:p>
          <a:p>
            <a:pPr algn="ctr"/>
            <a:r>
              <a:rPr lang="en-US" sz="3200" dirty="0">
                <a:ln>
                  <a:solidFill>
                    <a:schemeClr val="bg1"/>
                  </a:solidFill>
                </a:ln>
              </a:rPr>
              <a:t>Spring 2025</a:t>
            </a:r>
          </a:p>
        </p:txBody>
      </p:sp>
    </p:spTree>
    <p:extLst>
      <p:ext uri="{BB962C8B-B14F-4D97-AF65-F5344CB8AC3E}">
        <p14:creationId xmlns:p14="http://schemas.microsoft.com/office/powerpoint/2010/main" val="64225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BDDF-D4EC-EE96-442A-B3B30F0BB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1.1 Charges, Conductors, and Insulators</a:t>
            </a:r>
            <a:br>
              <a:rPr lang="en-US" dirty="0"/>
            </a:br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1EC3D-FD6E-0102-7921-DE463AFAF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1.1.1 Charge</a:t>
            </a:r>
          </a:p>
          <a:p>
            <a:pPr marL="0" indent="0">
              <a:buNone/>
            </a:pPr>
            <a:r>
              <a:rPr lang="en-US" dirty="0"/>
              <a:t>1.1.2 Atoms and Electricity</a:t>
            </a:r>
          </a:p>
          <a:p>
            <a:pPr marL="0" indent="0">
              <a:buNone/>
            </a:pPr>
            <a:r>
              <a:rPr lang="en-US" dirty="0"/>
              <a:t>1.1.3 Ions</a:t>
            </a:r>
          </a:p>
          <a:p>
            <a:pPr marL="0" indent="0">
              <a:buNone/>
            </a:pPr>
            <a:r>
              <a:rPr lang="en-US" dirty="0"/>
              <a:t>1.1.4 Charge Conservation</a:t>
            </a:r>
          </a:p>
          <a:p>
            <a:pPr marL="0" indent="0">
              <a:buNone/>
            </a:pPr>
            <a:r>
              <a:rPr lang="en-US" dirty="0"/>
              <a:t>1.1.5 Insulators and Conductors</a:t>
            </a:r>
          </a:p>
          <a:p>
            <a:pPr marL="0" indent="0">
              <a:buNone/>
            </a:pPr>
            <a:r>
              <a:rPr lang="en-US" dirty="0"/>
              <a:t>1.1.6 Charging</a:t>
            </a:r>
          </a:p>
          <a:p>
            <a:pPr marL="0" indent="0">
              <a:buNone/>
            </a:pPr>
            <a:r>
              <a:rPr lang="en-US" dirty="0"/>
              <a:t>1.1.7 Discharging</a:t>
            </a:r>
          </a:p>
          <a:p>
            <a:pPr marL="0" indent="0">
              <a:buNone/>
            </a:pPr>
            <a:r>
              <a:rPr lang="en-US" dirty="0"/>
              <a:t>1.1.8 Polarization</a:t>
            </a:r>
          </a:p>
          <a:p>
            <a:pPr marL="0" indent="0">
              <a:buNone/>
            </a:pPr>
            <a:r>
              <a:rPr lang="en-US" dirty="0"/>
              <a:t>1.1.9 Charging by Induction</a:t>
            </a:r>
          </a:p>
        </p:txBody>
      </p:sp>
    </p:spTree>
    <p:extLst>
      <p:ext uri="{BB962C8B-B14F-4D97-AF65-F5344CB8AC3E}">
        <p14:creationId xmlns:p14="http://schemas.microsoft.com/office/powerpoint/2010/main" val="1732839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D4FF-F80B-C5C7-56D8-3FA0BD2FA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1.1.1 Charge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9E358-4CB2-9E2A-F45C-68873ABF6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344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modern names for the two types of charge are positive charge and negative charge.</a:t>
            </a:r>
          </a:p>
          <a:p>
            <a:endParaRPr lang="en-US" dirty="0"/>
          </a:p>
          <a:p>
            <a:r>
              <a:rPr lang="en-US" dirty="0"/>
              <a:t>Benjamin Franklin established the convention that a glass rod that has been rubbed with silk is </a:t>
            </a:r>
            <a:r>
              <a:rPr lang="en-US" i="1" dirty="0"/>
              <a:t>positively</a:t>
            </a:r>
            <a:r>
              <a:rPr lang="en-US" dirty="0"/>
              <a:t> charged.</a:t>
            </a:r>
          </a:p>
          <a:p>
            <a:endParaRPr lang="en-US" dirty="0"/>
          </a:p>
          <a:p>
            <a:r>
              <a:rPr lang="en-US" dirty="0"/>
              <a:t>Any charged object that attracts a charged glass rod is negatively charged.</a:t>
            </a:r>
          </a:p>
          <a:p>
            <a:endParaRPr lang="en-US" dirty="0"/>
          </a:p>
          <a:p>
            <a:r>
              <a:rPr lang="en-US" dirty="0"/>
              <a:t>Thus, a plastic rod rubbed with wool is </a:t>
            </a:r>
            <a:r>
              <a:rPr lang="en-US" i="1" dirty="0"/>
              <a:t>negative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05E895-03A2-E99D-E50B-49CACCD3D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311870"/>
            <a:ext cx="2518641" cy="31171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D8A86-9150-2E2C-FEC9-2E4D664CA0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18" r="33636"/>
          <a:stretch/>
        </p:blipFill>
        <p:spPr>
          <a:xfrm>
            <a:off x="9372599" y="4001293"/>
            <a:ext cx="2518641" cy="232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598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E5A01-FA62-2B4C-5629-14EBC4C5A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1.1.1 Charge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D781B-BC00-F040-9D96-E38075A13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It wasn’t until many years later, with the discovery of electrons and protons, that electrons were found to be attracted to the charged glass rod while protons were repelled. </a:t>
            </a:r>
          </a:p>
          <a:p>
            <a:endParaRPr lang="en-US" dirty="0"/>
          </a:p>
          <a:p>
            <a:r>
              <a:rPr lang="en-US" i="1" dirty="0"/>
              <a:t>By convention, </a:t>
            </a:r>
            <a:r>
              <a:rPr lang="en-US" dirty="0"/>
              <a:t>electrons have a negative charge, and protons have a positive charge.</a:t>
            </a:r>
          </a:p>
          <a:p>
            <a:endParaRPr lang="en-US" dirty="0"/>
          </a:p>
          <a:p>
            <a:r>
              <a:rPr lang="en-US" dirty="0"/>
              <a:t>This could have been oppositely defined! (In hindsight, it would have been better if Franklin made the opposite choice.)</a:t>
            </a: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503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C4BA-6D31-7508-E84C-057EC78EB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1.1.2 Atoms and Electricity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731FE-5C1B-566A-6EBC-BF7D1B3203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27263" cy="46672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An atom consists of a very small dense </a:t>
                </a:r>
                <a:r>
                  <a:rPr lang="en-US" i="1" dirty="0"/>
                  <a:t>nucleus</a:t>
                </a:r>
                <a:r>
                  <a:rPr lang="en-US" dirty="0"/>
                  <a:t> (diameter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−14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dirty="0"/>
                  <a:t>) surrounded by much less massive orbiting </a:t>
                </a:r>
                <a:r>
                  <a:rPr lang="en-US" i="1" dirty="0"/>
                  <a:t>electrons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The orbital frequencies of these electrons are so large, the electrons seem to form an </a:t>
                </a:r>
                <a:r>
                  <a:rPr lang="en-US" i="1" dirty="0"/>
                  <a:t>electron cloud</a:t>
                </a:r>
                <a:r>
                  <a:rPr lang="en-US" dirty="0"/>
                  <a:t> around the nucleus (diameter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</m:sup>
                    </m:sSup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dirty="0"/>
                  <a:t>).</a:t>
                </a:r>
              </a:p>
              <a:p>
                <a:endParaRPr lang="en-US" dirty="0"/>
              </a:p>
              <a:p>
                <a:r>
                  <a:rPr lang="en-US" dirty="0"/>
                  <a:t>The nucleus is a composite structure consisting of </a:t>
                </a:r>
                <a:r>
                  <a:rPr lang="en-US" i="1" dirty="0"/>
                  <a:t>protons</a:t>
                </a:r>
                <a:r>
                  <a:rPr lang="en-US" dirty="0"/>
                  <a:t>, positively charged particles, and neutral </a:t>
                </a:r>
                <a:r>
                  <a:rPr lang="en-US" i="1" dirty="0"/>
                  <a:t>neutrons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The atom is held together by the attractive electric force between the positive nucleus and the negative electrons.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731FE-5C1B-566A-6EBC-BF7D1B3203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27263" cy="4667250"/>
              </a:xfrm>
              <a:blipFill>
                <a:blip r:embed="rId2"/>
                <a:stretch>
                  <a:fillRect l="-1135" t="-2981" r="-1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AEB2543-E211-29BC-F0C5-4D3AD06C7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0" y="1689736"/>
            <a:ext cx="3200400" cy="33135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DE815AD-BD31-EC4A-5CE6-A79BF4B0CF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625176"/>
                  </p:ext>
                </p:extLst>
              </p:nvPr>
            </p:nvGraphicFramePr>
            <p:xfrm>
              <a:off x="8665463" y="5380355"/>
              <a:ext cx="3526537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4390">
                      <a:extLst>
                        <a:ext uri="{9D8B030D-6E8A-4147-A177-3AD203B41FA5}">
                          <a16:colId xmlns:a16="http://schemas.microsoft.com/office/drawing/2014/main" val="1360551282"/>
                        </a:ext>
                      </a:extLst>
                    </a:gridCol>
                    <a:gridCol w="1416304">
                      <a:extLst>
                        <a:ext uri="{9D8B030D-6E8A-4147-A177-3AD203B41FA5}">
                          <a16:colId xmlns:a16="http://schemas.microsoft.com/office/drawing/2014/main" val="3202810267"/>
                        </a:ext>
                      </a:extLst>
                    </a:gridCol>
                    <a:gridCol w="1025843">
                      <a:extLst>
                        <a:ext uri="{9D8B030D-6E8A-4147-A177-3AD203B41FA5}">
                          <a16:colId xmlns:a16="http://schemas.microsoft.com/office/drawing/2014/main" val="35816726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Particle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Mass (kg)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Charge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59948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Proton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1.67×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−27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7565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Electron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9.11×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−31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4896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DE815AD-BD31-EC4A-5CE6-A79BF4B0CF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625176"/>
                  </p:ext>
                </p:extLst>
              </p:nvPr>
            </p:nvGraphicFramePr>
            <p:xfrm>
              <a:off x="8665463" y="5380355"/>
              <a:ext cx="3526537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4390">
                      <a:extLst>
                        <a:ext uri="{9D8B030D-6E8A-4147-A177-3AD203B41FA5}">
                          <a16:colId xmlns:a16="http://schemas.microsoft.com/office/drawing/2014/main" val="1360551282"/>
                        </a:ext>
                      </a:extLst>
                    </a:gridCol>
                    <a:gridCol w="1416304">
                      <a:extLst>
                        <a:ext uri="{9D8B030D-6E8A-4147-A177-3AD203B41FA5}">
                          <a16:colId xmlns:a16="http://schemas.microsoft.com/office/drawing/2014/main" val="3202810267"/>
                        </a:ext>
                      </a:extLst>
                    </a:gridCol>
                    <a:gridCol w="1025843">
                      <a:extLst>
                        <a:ext uri="{9D8B030D-6E8A-4147-A177-3AD203B41FA5}">
                          <a16:colId xmlns:a16="http://schemas.microsoft.com/office/drawing/2014/main" val="35816726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Particle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Mass (kg)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Charge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59948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Proton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6786" t="-110345" r="-75000" b="-127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44444" t="-110345" r="-3704" b="-1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7565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Electron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6786" t="-203333" r="-75000" b="-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44444" t="-203333" r="-3704" b="-2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14896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37942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1C79A-493D-123D-6B6C-A8C1D8F90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1.1.2 Atoms and Electricity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E3738-293E-09EA-0163-8F07CCA96F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One of the most important discoveries is that charge, like mass, is an inherent property of electrons and protons.</a:t>
                </a:r>
              </a:p>
              <a:p>
                <a:endParaRPr lang="en-US" dirty="0"/>
              </a:p>
              <a:p>
                <a:r>
                  <a:rPr lang="en-US" dirty="0"/>
                  <a:t>Electrons and protons have charges of </a:t>
                </a:r>
                <a:r>
                  <a:rPr lang="en-US" i="1" dirty="0"/>
                  <a:t>equal </a:t>
                </a:r>
                <a:r>
                  <a:rPr lang="en-US" dirty="0"/>
                  <a:t>magnitude but </a:t>
                </a:r>
                <a:r>
                  <a:rPr lang="en-US" i="1" dirty="0"/>
                  <a:t>opposite</a:t>
                </a:r>
                <a:r>
                  <a:rPr lang="en-US" dirty="0"/>
                  <a:t> sign.</a:t>
                </a:r>
              </a:p>
              <a:p>
                <a:endParaRPr lang="en-US" dirty="0"/>
              </a:p>
              <a:p>
                <a:r>
                  <a:rPr lang="en-US" dirty="0"/>
                  <a:t>This atomic-level unit of charge (called the fundamental unit of charge), is represented by the symbol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Electrons and protons are the basic charges of ordinary matter.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E3738-293E-09EA-0163-8F07CCA96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4070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730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7AA2-2F80-8F77-1F00-07298BD54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1.1.2 Atoms and Electricity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1A34F4-A4DD-702D-5C74-1AC68CCD34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Charge is represented by the symbol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. A macroscopic object has a charge given by: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/>
                  <a:t> is the number of protons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/>
                  <a:t> is the number of electrons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is the fundamental charge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Most macroscopic objects have an </a:t>
                </a:r>
                <a:r>
                  <a:rPr lang="en-US" i="1" dirty="0"/>
                  <a:t>equal number </a:t>
                </a:r>
                <a:r>
                  <a:rPr lang="en-US" dirty="0"/>
                  <a:t>of protons and electrons.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1A34F4-A4DD-702D-5C74-1AC68CCD34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4070" b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244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9CC02-155A-A847-BC51-59EA8A13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1.1.3 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500ACD-7E2C-6BEB-785D-92D568765C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35087" cy="466725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A charged object has an unequal number of protons and electrons. An object is positively charged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/>
                  <a:t>. It is negatively charged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Notice that an object’s charge is always an integer multiple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 This is called </a:t>
                </a:r>
                <a:r>
                  <a:rPr lang="en-US" i="1" dirty="0"/>
                  <a:t>charge quantization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In practice, objects acquire a positive charge not by gaining protons, but by losing electrons.</a:t>
                </a:r>
              </a:p>
              <a:p>
                <a:endParaRPr lang="en-US" dirty="0"/>
              </a:p>
              <a:p>
                <a:r>
                  <a:rPr lang="en-US" dirty="0"/>
                  <a:t>The process of removing an electron from the electron cloud is called </a:t>
                </a:r>
                <a:r>
                  <a:rPr lang="en-US" i="1" dirty="0"/>
                  <a:t>ionization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500ACD-7E2C-6BEB-785D-92D568765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35087" cy="4667250"/>
              </a:xfrm>
              <a:blipFill>
                <a:blip r:embed="rId2"/>
                <a:stretch>
                  <a:fillRect l="-1294" t="-3252" r="-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CCFE6BE-AED5-B020-23D6-44909CB90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287" y="668337"/>
            <a:ext cx="3518713" cy="552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85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BEC4-FEF6-D524-A9B6-0100ADA58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1.1.3 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3CC969-E50F-B80F-A7EC-3ACD22E62A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7848600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An atom that is missing an electron is called a </a:t>
                </a:r>
                <a:r>
                  <a:rPr lang="en-US" i="1" dirty="0"/>
                  <a:t>positive ion, </a:t>
                </a:r>
                <a:r>
                  <a:rPr lang="en-US" dirty="0"/>
                  <a:t>or </a:t>
                </a:r>
                <a:r>
                  <a:rPr lang="en-US" i="1" dirty="0"/>
                  <a:t>cation</a:t>
                </a:r>
                <a:r>
                  <a:rPr lang="en-US" dirty="0"/>
                  <a:t>. Its </a:t>
                </a:r>
                <a:r>
                  <a:rPr lang="en-US" i="1" dirty="0"/>
                  <a:t>net</a:t>
                </a:r>
                <a:r>
                  <a:rPr lang="en-US" dirty="0"/>
                  <a:t> charge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An atom that has an extra electron is called a </a:t>
                </a:r>
                <a:r>
                  <a:rPr lang="en-US" i="1" dirty="0"/>
                  <a:t>negative ion</a:t>
                </a:r>
                <a:r>
                  <a:rPr lang="en-US" dirty="0"/>
                  <a:t>, or </a:t>
                </a:r>
                <a:r>
                  <a:rPr lang="en-US" i="1" dirty="0"/>
                  <a:t>anion</a:t>
                </a:r>
                <a:r>
                  <a:rPr lang="en-US" dirty="0"/>
                  <a:t>. Its </a:t>
                </a:r>
                <a:r>
                  <a:rPr lang="en-US" i="1" dirty="0"/>
                  <a:t>net </a:t>
                </a:r>
                <a:r>
                  <a:rPr lang="en-US" dirty="0"/>
                  <a:t>charge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Molecules are electrically neutral, but </a:t>
                </a:r>
                <a:r>
                  <a:rPr lang="en-US" i="1" dirty="0"/>
                  <a:t>molecular ions</a:t>
                </a:r>
                <a:r>
                  <a:rPr lang="en-US" dirty="0"/>
                  <a:t> can be created when one of the bonds in a large molecule is broken.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3CC969-E50F-B80F-A7EC-3ACD22E62A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7848600" cy="4351338"/>
              </a:xfrm>
              <a:blipFill>
                <a:blip r:embed="rId2"/>
                <a:stretch>
                  <a:fillRect l="-1618" t="-2907" r="-1618" b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83F0155-5FFA-5B92-56A1-816E105B3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968375"/>
            <a:ext cx="350520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89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8637-531C-2963-C8BE-8B503AC75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1.1.4 Charge Conservation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B8618-C819-37E1-341F-4A9839229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important discoveries about charge is the law of conservation of charge: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i="1" dirty="0">
                <a:highlight>
                  <a:srgbClr val="FFFF00"/>
                </a:highlight>
              </a:rPr>
              <a:t>Charge is neither created nor destroyed. It can only be transferred from one object to another as electrons and ions move about.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total amount of charge remains constant.</a:t>
            </a:r>
          </a:p>
        </p:txBody>
      </p:sp>
    </p:spTree>
    <p:extLst>
      <p:ext uri="{BB962C8B-B14F-4D97-AF65-F5344CB8AC3E}">
        <p14:creationId xmlns:p14="http://schemas.microsoft.com/office/powerpoint/2010/main" val="3741342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26A9F-B2C4-7522-CE27-FC4BCB056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1.1.5 Insulators and Conductors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C639D-65CC-203A-B82C-148E30307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97983" cy="46672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Conductors and insulators can be charged by friction.</a:t>
            </a:r>
          </a:p>
          <a:p>
            <a:endParaRPr lang="en-US" dirty="0"/>
          </a:p>
          <a:p>
            <a:r>
              <a:rPr lang="en-US" dirty="0"/>
              <a:t>Rubbing a glass/plastic rod with silk/wool will transfer electrons from/to the rod. (Triboelectric effect)</a:t>
            </a:r>
          </a:p>
          <a:p>
            <a:endParaRPr lang="en-US" dirty="0"/>
          </a:p>
          <a:p>
            <a:r>
              <a:rPr lang="en-US" dirty="0"/>
              <a:t>Charging an insulator by friction leaves patches of molecular ions on the surface, but these patches are immobile.</a:t>
            </a:r>
          </a:p>
          <a:p>
            <a:endParaRPr lang="en-US" dirty="0"/>
          </a:p>
          <a:p>
            <a:r>
              <a:rPr lang="en-US" dirty="0"/>
              <a:t>In metals, the outer electrons are only weakly bound to the nuclei. Thus, electrons in a metal are highly mobile. These electrons are </a:t>
            </a:r>
            <a:r>
              <a:rPr lang="en-US" i="1" dirty="0"/>
              <a:t>charge carriers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979316-380B-C44C-249E-E2565AD6C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6183" y="1248454"/>
            <a:ext cx="3255818" cy="560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885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422A-85CE-6B4B-B6C2-C23E07585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1.1.6 Charging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36534-82F5-F263-9175-2A6E2CBA7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09789"/>
            <a:ext cx="7721600" cy="225166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Once charges are situated across an isolated conductor, they are in static equilibrium. There is not </a:t>
            </a:r>
            <a:r>
              <a:rPr lang="en-US" sz="2400" i="1" dirty="0"/>
              <a:t>net</a:t>
            </a:r>
            <a:r>
              <a:rPr lang="en-US" sz="2400" dirty="0"/>
              <a:t> force on any charge. This is called electrostatic equilibrium.</a:t>
            </a:r>
          </a:p>
          <a:p>
            <a:endParaRPr lang="en-US" sz="2400" dirty="0"/>
          </a:p>
          <a:p>
            <a:r>
              <a:rPr lang="en-US" sz="2400" dirty="0"/>
              <a:t>In an isolated conductor, any excess charge is located on the surface of the conductor.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0527E0-9EAF-D489-9123-7722F4068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1576388"/>
            <a:ext cx="7772400" cy="26648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C75C4D-7AE6-D59E-E9CE-19697FE3D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800" y="681037"/>
            <a:ext cx="36322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73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D4E6-1F65-E54A-0E93-A20FF3F79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1.1.7 Discharging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B9BE8-9996-137B-CD02-B699253BA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84102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Two conductors in contact “share” the charge that was originally on just one of them.</a:t>
            </a:r>
          </a:p>
          <a:p>
            <a:endParaRPr lang="en-US" dirty="0"/>
          </a:p>
          <a:p>
            <a:r>
              <a:rPr lang="en-US" dirty="0"/>
              <a:t>Moist air is a poor conductor, but charged objects in air slowly lose their charge as they share charges with the air.</a:t>
            </a:r>
          </a:p>
          <a:p>
            <a:endParaRPr lang="en-US" dirty="0"/>
          </a:p>
          <a:p>
            <a:r>
              <a:rPr lang="en-US" dirty="0"/>
              <a:t>Any object that is connected to the earth by a conductor is said to be </a:t>
            </a:r>
            <a:r>
              <a:rPr lang="en-US" i="1" dirty="0"/>
              <a:t>grounded</a:t>
            </a:r>
            <a:r>
              <a:rPr lang="en-US" dirty="0"/>
              <a:t>. A grounded object shares any excess charge with Earth, leading to the discharge of the object.</a:t>
            </a:r>
          </a:p>
          <a:p>
            <a:endParaRPr lang="en-US" dirty="0"/>
          </a:p>
          <a:p>
            <a:r>
              <a:rPr lang="en-US" dirty="0"/>
              <a:t>Grounding prevents the build-up of charge on an object.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1DABE6-B275-6304-9E74-6CC8E318A5C7}"/>
              </a:ext>
            </a:extLst>
          </p:cNvPr>
          <p:cNvGrpSpPr/>
          <p:nvPr/>
        </p:nvGrpSpPr>
        <p:grpSpPr>
          <a:xfrm>
            <a:off x="9622302" y="1690688"/>
            <a:ext cx="2569698" cy="3605453"/>
            <a:chOff x="9622302" y="1690688"/>
            <a:chExt cx="2569698" cy="360545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854EFBE-144D-4C36-5977-4B066AE2A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22302" y="1690688"/>
              <a:ext cx="2569698" cy="357052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BBC15F9-811B-57C1-6D2F-508CC68EA544}"/>
                </a:ext>
              </a:extLst>
            </p:cNvPr>
            <p:cNvSpPr txBox="1"/>
            <p:nvPr/>
          </p:nvSpPr>
          <p:spPr>
            <a:xfrm>
              <a:off x="9694252" y="5049920"/>
              <a:ext cx="242579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hlinkClick r:id="rId3"/>
                </a:rPr>
                <a:t>https://</a:t>
              </a:r>
              <a:r>
                <a:rPr lang="en-US" sz="1000" dirty="0" err="1">
                  <a:hlinkClick r:id="rId3"/>
                </a:rPr>
                <a:t>en.wikipedia.org</a:t>
              </a:r>
              <a:r>
                <a:rPr lang="en-US" sz="1000" dirty="0">
                  <a:hlinkClick r:id="rId3"/>
                </a:rPr>
                <a:t>/wiki/</a:t>
              </a:r>
              <a:r>
                <a:rPr lang="en-US" sz="1000" dirty="0" err="1">
                  <a:hlinkClick r:id="rId3"/>
                </a:rPr>
                <a:t>Lightning_rod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12857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C23E-C6DE-1D3B-F5F8-7BCF5AE4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1.1.8 Polarization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B992F-2842-5481-94D6-2E96F957C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Charge polarization</a:t>
            </a:r>
            <a:r>
              <a:rPr lang="en-US" dirty="0"/>
              <a:t> is a slight separation of the positive and negative charges in a </a:t>
            </a:r>
            <a:r>
              <a:rPr lang="en-US" u="sng" dirty="0"/>
              <a:t>neutral</a:t>
            </a:r>
            <a:r>
              <a:rPr lang="en-US" dirty="0"/>
              <a:t> object.</a:t>
            </a:r>
          </a:p>
          <a:p>
            <a:endParaRPr lang="en-US" i="1" dirty="0"/>
          </a:p>
          <a:p>
            <a:r>
              <a:rPr lang="en-US" dirty="0"/>
              <a:t>A charged rod brought near a metal object will attract the “sea of electrons”, leaving fewer electrons (net positive charge) elsewhere.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8CD9D-115F-6F87-413B-BAA28D9EF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649463"/>
            <a:ext cx="4033978" cy="209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0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A2AEF-789D-FE9A-E275-C9A95630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1.1.8 Polarization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3AFAB-2EA4-7025-D5DD-0A9B86A43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1675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The net force toward the charged rod is called a </a:t>
            </a:r>
            <a:r>
              <a:rPr lang="en-US" i="1" dirty="0"/>
              <a:t>polarization force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polarization force arises because the charges in the metal are separated, not because the rod and metal are oppositely charged.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FCA85E-37F7-E0A8-BE36-1F90DBFC1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42381"/>
            <a:ext cx="7772400" cy="30156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9C58DA-F484-058B-ED1E-686C3208BDCF}"/>
              </a:ext>
            </a:extLst>
          </p:cNvPr>
          <p:cNvSpPr txBox="1"/>
          <p:nvPr/>
        </p:nvSpPr>
        <p:spPr>
          <a:xfrm>
            <a:off x="8947052" y="4825218"/>
            <a:ext cx="29542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the electrons are </a:t>
            </a:r>
            <a:r>
              <a:rPr lang="en-US" u="sng" dirty="0"/>
              <a:t>closer</a:t>
            </a:r>
            <a:r>
              <a:rPr lang="en-US" dirty="0"/>
              <a:t> to the charged rod, they will exert a stronger force than the repulsion experienced by the positive charges.</a:t>
            </a:r>
          </a:p>
        </p:txBody>
      </p:sp>
    </p:spTree>
    <p:extLst>
      <p:ext uri="{BB962C8B-B14F-4D97-AF65-F5344CB8AC3E}">
        <p14:creationId xmlns:p14="http://schemas.microsoft.com/office/powerpoint/2010/main" val="3066468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97BCB-582D-1313-2829-7173CA2B6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1.1.8 Polarization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6A5DA-0C90-C758-CA7D-708ED7C17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711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Two opposite charges with a slight separation between them form a </a:t>
            </a:r>
            <a:r>
              <a:rPr lang="en-US" i="1" dirty="0"/>
              <a:t>dipole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 dipole is created when an external, charged object is brought near a neutral object like an atom. The electrons move closer to the external object while the positive nucleus is repelled. This creates a “lopsided” dipole.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34075D-8F5D-DF3F-1518-DA2FCAA8F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696798"/>
            <a:ext cx="7772400" cy="216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305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9A47-D465-9484-A84A-A21F574FC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1.1.8 Polarization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30920-3D38-C1FF-2144-0E04A3FC3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69074" cy="4351338"/>
          </a:xfrm>
        </p:spPr>
        <p:txBody>
          <a:bodyPr/>
          <a:lstStyle/>
          <a:p>
            <a:r>
              <a:rPr lang="en-US" dirty="0"/>
              <a:t>An insulator has no sea of electrons to shift if an external charge is brought close. Instead, all the individual atoms in the insulator become polarized.</a:t>
            </a:r>
          </a:p>
          <a:p>
            <a:endParaRPr lang="en-US" dirty="0"/>
          </a:p>
          <a:p>
            <a:r>
              <a:rPr lang="en-US" dirty="0"/>
              <a:t>The polarization force acting on each atom produces a net polarization force toward the external charge.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44A54-12BE-8E41-6B04-B08DC2632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274" y="1886682"/>
            <a:ext cx="3184726" cy="308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847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C36B-E3FE-0D97-9B57-07CB5E92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1.1.9 Charging by Induction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C005C-1CA1-B214-69BF-37BEE7F85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7061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An object can be charged by </a:t>
            </a:r>
            <a:r>
              <a:rPr lang="en-US" i="1" dirty="0"/>
              <a:t>induction</a:t>
            </a:r>
            <a:r>
              <a:rPr lang="en-US" dirty="0"/>
              <a:t> if a distant object separates charges, and the negative (or positive) charges are then isolated.</a:t>
            </a:r>
          </a:p>
          <a:p>
            <a:endParaRPr lang="en-US" dirty="0"/>
          </a:p>
          <a:p>
            <a:r>
              <a:rPr lang="en-US" dirty="0"/>
              <a:t>Consider the example below. The electroscope + human system is polarized, </a:t>
            </a:r>
            <a:r>
              <a:rPr lang="en-US" u="sng" dirty="0"/>
              <a:t>some electrons from the human move to the electroscope</a:t>
            </a:r>
            <a:r>
              <a:rPr lang="en-US" dirty="0"/>
              <a:t>. leaving a net negative charge on the top of the electroscope.</a:t>
            </a:r>
          </a:p>
          <a:p>
            <a:endParaRPr lang="en-US" dirty="0"/>
          </a:p>
          <a:p>
            <a:r>
              <a:rPr lang="en-US" dirty="0"/>
              <a:t>When the human breaks the connection, the electroscope now has a net negative charge, and the electrons redistribute themselves.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2484C4-D84C-F681-AD0F-0F5E5C57C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430" y="4196237"/>
            <a:ext cx="6073140" cy="266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6181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1180</Words>
  <Application>Microsoft Macintosh PowerPoint</Application>
  <PresentationFormat>Widescreen</PresentationFormat>
  <Paragraphs>127</Paragraphs>
  <Slides>18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Cambria Math</vt:lpstr>
      <vt:lpstr>Gill Sans Nova</vt:lpstr>
      <vt:lpstr>GradientVTI</vt:lpstr>
      <vt:lpstr>(1.1) Charges, Conductors, and Insulators</vt:lpstr>
      <vt:lpstr>1.1 Charges, Conductors, and Insulators Topics</vt:lpstr>
      <vt:lpstr>1.1.1 Charge</vt:lpstr>
      <vt:lpstr>1.1.1 Charge</vt:lpstr>
      <vt:lpstr>1.1.2 Atoms and Electricity</vt:lpstr>
      <vt:lpstr>1.1.2 Atoms and Electricity</vt:lpstr>
      <vt:lpstr>1.1.2 Atoms and Electricity</vt:lpstr>
      <vt:lpstr>1.1.3 Ions</vt:lpstr>
      <vt:lpstr>1.1.3 Ions</vt:lpstr>
      <vt:lpstr>1.1.4 Charge Conservation</vt:lpstr>
      <vt:lpstr>1.1.5 Insulators and Conductors</vt:lpstr>
      <vt:lpstr>1.1.6 Charging</vt:lpstr>
      <vt:lpstr>1.1.7 Discharging</vt:lpstr>
      <vt:lpstr>1.1.8 Polarization</vt:lpstr>
      <vt:lpstr>1.1.8 Polarization</vt:lpstr>
      <vt:lpstr>1.1.8 Polarization</vt:lpstr>
      <vt:lpstr>1.1.8 Polarization</vt:lpstr>
      <vt:lpstr>1.1.9 Charging by Induction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Dustin Roten</dc:creator>
  <cp:lastModifiedBy>Dustin Roten</cp:lastModifiedBy>
  <cp:revision>47</cp:revision>
  <dcterms:created xsi:type="dcterms:W3CDTF">2025-01-03T01:28:45Z</dcterms:created>
  <dcterms:modified xsi:type="dcterms:W3CDTF">2025-01-06T14:14:16Z</dcterms:modified>
</cp:coreProperties>
</file>